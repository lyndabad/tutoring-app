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Radians, Arcs &amp; Sectors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Trigonometry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3.4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How many degrees in a full turn?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fraction of a circle is 90°?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Circumference of a circle radius 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360°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one quarter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2πr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17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Convert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between degrees and radians.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length of an arc.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Find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area of a sector.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Apply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these to real contexts.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convert degrees ↔ radians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l = rθ for arc length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A = ½r²θ for sector area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keep θ in radians for these formulas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Radians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DEGREES ↔ RADIANS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π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rPr>
                      <m:sty m:val="p"/>
                    </m:rPr>
                    <m:t xml:space="preserve">rad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8</m:t>
                  </m:r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To radians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× π/180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To degrees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× 180/π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Why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one radian = the angle that an arc of length r subtends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COMMON ANGLES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90°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π/2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180°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60°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π/3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32504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45°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π/4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Convert an angle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Convert  120°  to radians,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giving an exact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Multiply by π/180: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2679192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400">
                      <a:solidFill>
                        <a:srgbClr val="1D1A33"/>
                      </a:solidFill>
                    </a:rPr>
                    <m:t xml:space="preserve">×</m:t>
                  </m:r>
                  <m:f>
                    <m:num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π</m:t>
                      </m:r>
                    </m:num>
                    <m:den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1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8</m:t>
                      </m:r>
                      <m:r>
                        <a:rPr sz="2400">
                          <a:solidFill>
                            <a:srgbClr val="1D1A33"/>
                          </a:solidFill>
                        </a:rPr>
                        <m:t xml:space="preserve">0</m:t>
                      </m:r>
                    </m:den>
                  </m:f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776472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Simplify the fraction (120/180 = 2/3):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38544" y="4169663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π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3</m:t>
                      </m:r>
                    </m:den>
                  </m:f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convert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Convert  90°  to radians.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Convert  π/6  to degrees.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Convert  270°  to radians.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π/2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30°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3π/2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Arcs &amp; sectors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WITH θ IN RADIANS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l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2066544" y="342900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sSup>
                    <m:e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4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4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5" name="TextBox 14"/>
          <p:cNvSpPr txBox="1"/>
          <p:nvPr/>
        </p:nvSpPr>
        <p:spPr>
          <a:xfrm>
            <a:off x="868680" y="46177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l = rθ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arc length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A = ½r²θ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sector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5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Important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θ must be in RADIANS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WHERE FROM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full circle: θ = 2π.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Arc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l = r(2π) = 2πr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Area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= ½r²(2π) = πr² 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Arc length &amp; 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A sector has radius 6 cm and angle 0.5 rad.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the arc length and the area.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Arc length l = rθ: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l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6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×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1D1A33"/>
                      </a:solidFill>
                    </a:rPr>
                    <m:rPr>
                      <m:sty m:val="p"/>
                    </m:rPr>
                    <m:t xml:space="preserve">cm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Sector area A = ½r²θ: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48271" y="4082796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6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)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9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rPr>
                          <m:sty m:val="p"/>
                        </m:rPr>
                        <m:t xml:space="preserve">cm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 sector of a circle has radius 10 cm and angle 1.2 radians.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Find the arc length.   [2]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the area of the sector.   [2]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l = rθ = 10 × 1.2 = 12 cm  (M1)(A1)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A = ½r²θ = ½(100)(1.2) = 60 cm²  (M1)(A1)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Mode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Set your GDC to RADIANS for these formulas.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Degrees in l = rθ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θ must be in radians, not degrees.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Half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Sector area is ½r²θ — don't forget the ½.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Convert carefully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× π/180 for degrees → radians.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Convert  150°  to radians.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Arc length: r = 8, θ = 0.75 rad.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Sector area: r = 5, θ = 1.6 rad.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Convert  2π/5  to degrees.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5π/6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6 cm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20 cm²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72°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π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8</m:t>
                  </m:r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0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°</m:t>
                      </m:r>
                    </m:sup>
                  </m:sSup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l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r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A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f>
                    <m:num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1</m:t>
                      </m:r>
                    </m:num>
                    <m:den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den>
                  </m:f>
                  <m:sSup>
                    <m:e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r</m:t>
                      </m:r>
                    </m:e>
                    <m:sup>
                      <m:r>
                        <a:rPr sz="2200">
                          <a:solidFill>
                            <a:srgbClr val="4F3DF5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4F3DF5"/>
                      </a:solidFill>
                    </a:rPr>
                    <m:t xml:space="preserve">θ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Convert  60°  to radians.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Arc length: r = 4, θ = 2 rad.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Sector area: r = 3, θ = 2 rad.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π/3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2.  8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Radians, arcs &amp; sectors.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18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unit circle &amp; exact values of sin, cos and tan.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sin 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+</m:t>
                  </m:r>
                  <m:sSup>
                    <m:e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cos </m:t>
                      </m:r>
                    </m:e>
                    <m:sup>
                      <m:r>
                        <a:rPr sz="2200">
                          <a:solidFill>
                            <a:srgbClr val="00A896"/>
                          </a:solidFill>
                        </a:rPr>
                        <m:t xml:space="preserve">2</m:t>
                      </m:r>
                    </m:sup>
                  </m:sSup>
                  <m:r>
                    <a:rPr sz="2200">
                      <a:solidFill>
                        <a:srgbClr val="00A896"/>
                      </a:solidFill>
                    </a:rPr>
                    <m:t xml:space="preserve">θ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