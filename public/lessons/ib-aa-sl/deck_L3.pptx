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365760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· ANALYSIS &amp; APPROACHES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41248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Georgia"/>
              </a:rPr>
              <a:t>Geometric Sequences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Georgia"/>
              </a:rPr>
              <a:t>&amp; Series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Number &amp; Algebra  ·  60-minute lesson  ·  Tutor: Lynda Badmus, 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28032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1.3  ·  Paper 1 (no GDC) + Paper 2 (GDC)  ·  Formula booklet allowed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 · Lesson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last lesson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7C4DFF"/>
                </a:solidFill>
                <a:latin typeface="Calibri"/>
              </a:rPr>
              <a:t>1.  </a:t>
            </a:r>
            <a:r>
              <a:rPr sz="1500" b="0" i="0">
                <a:solidFill>
                  <a:srgbClr val="1D1A33"/>
                </a:solidFill>
                <a:latin typeface="Calibri"/>
              </a:rPr>
              <a:t>An arithmetic sequence is  4, 7, 10, 13, 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  <a:r>
              <a:rPr sz="1350" b="0" i="0">
                <a:solidFill>
                  <a:srgbClr val="6E6A8A"/>
                </a:solidFill>
                <a:latin typeface="Calibri"/>
              </a:rPr>
              <a:t>      Write down the common difference d, then find the 6th term.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/>
            </a:r>
            <a:r>
              <a:rPr sz="1500" b="1" i="0">
                <a:solidFill>
                  <a:srgbClr val="7C4DFF"/>
                </a:solidFill>
                <a:latin typeface="Calibri"/>
              </a:rPr>
              <a:t>2.  </a:t>
            </a:r>
            <a:r>
              <a:rPr sz="1500" b="0" i="0">
                <a:solidFill>
                  <a:srgbClr val="1D1A33"/>
                </a:solidFill>
                <a:latin typeface="Calibri"/>
              </a:rPr>
              <a:t>For the same sequence, find the sum of the first 6 terms.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  <a:r>
              <a:rPr sz="1500" b="1" i="0">
                <a:solidFill>
                  <a:srgbClr val="7C4DFF"/>
                </a:solidFill>
                <a:latin typeface="Calibri"/>
              </a:rPr>
              <a:t>3.  </a:t>
            </a:r>
            <a:r>
              <a:rPr sz="1500" b="0" i="0">
                <a:solidFill>
                  <a:srgbClr val="1D1A33"/>
                </a:solidFill>
                <a:latin typeface="Calibri"/>
              </a:rPr>
              <a:t>Look at  2, 6, 18, 54, …  How is this pattern different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  <a:r>
              <a:rPr sz="1500" b="0" i="0">
                <a:solidFill>
                  <a:srgbClr val="1D1A33"/>
                </a:solidFill>
                <a:latin typeface="Calibri"/>
              </a:rPr>
              <a:t>      from question 1?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34924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6E6A8A"/>
                </a:solidFill>
                <a:latin typeface="Calibri"/>
              </a:rPr>
              <a:t>Recall the formula: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1644" y="5532120"/>
            <a:ext cx="184343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17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17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17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b>
                  </m:sSub>
                  <m:r>
                    <a:rPr sz="17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 </m:t>
                  </m:r>
                  <m:sSub>
                    <m:e>
                      <m:r>
                        <a:rPr sz="17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17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b>
                  </m:sSub>
                  <m:r>
                    <a:rPr sz="17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d</m:t>
                  </m:r>
                </m:oMath>
              </m:oMathPara>
            </a14:m>
          </a:p>
        </p:txBody>
      </p:sp>
      <p:sp>
        <p:nvSpPr>
          <p:cNvPr id="16" name="Rounded Rectangle 15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d = 3;  u₆ = 4 + 5(3) = 19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S₆ = 6/2 (2·4 + 5·3) = 69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Q1 ADDS 3 each time (arithmetic).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     2,6,18,54 MULTIPLIES by 3 each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     time — that's geometric.  ← today!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3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 · Lesson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Recognise  </a:t>
            </a:r>
            <a:r>
              <a:rPr sz="1350" b="0" i="0">
                <a:solidFill>
                  <a:srgbClr val="1D1A33"/>
                </a:solidFill>
                <a:latin typeface="Calibri"/>
              </a:rPr>
              <a:t>a geometric sequence and find the common ratio r.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  <a:r>
              <a:rPr sz="1350" b="0" i="0">
                <a:solidFill>
                  <a:srgbClr val="1D1A33"/>
                </a:solidFill>
                <a:latin typeface="Calibri"/>
              </a:rPr>
              <a:t>the formula for the nth term of a geometric sequence.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  <a:r>
              <a:rPr sz="1350" b="0" i="0">
                <a:solidFill>
                  <a:srgbClr val="1D1A33"/>
                </a:solidFill>
                <a:latin typeface="Calibri"/>
              </a:rPr>
              <a:t>the formula for the sum of n terms of a geometric series.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Solve  </a:t>
            </a:r>
            <a:r>
              <a:rPr sz="1350" b="0" i="0">
                <a:solidFill>
                  <a:srgbClr val="1D1A33"/>
                </a:solidFill>
                <a:latin typeface="Calibri"/>
              </a:rPr>
              <a:t>real-life growth &amp; decay problems (e.g. compound interest).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474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1D1A33"/>
                </a:solidFill>
                <a:latin typeface="Calibri"/>
              </a:rPr>
              <a:t>find r by dividing a term by the one before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/>
            </a: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1D1A33"/>
                </a:solidFill>
                <a:latin typeface="Calibri"/>
              </a:rPr>
              <a:t>substitute into  uₙ = u₁rⁿ⁻¹  to find any term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/>
            </a: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1D1A33"/>
                </a:solidFill>
                <a:latin typeface="Calibri"/>
              </a:rPr>
              <a:t>choose the right Sₙ formula and evaluate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/>
            </a: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1D1A33"/>
                </a:solidFill>
                <a:latin typeface="Calibri"/>
              </a:rPr>
              <a:t>set up a sequence to model a real situation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/>
            </a: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1D1A33"/>
                </a:solidFill>
                <a:latin typeface="Calibri"/>
              </a:rPr>
              <a:t>show clear method to earn the exam M-marks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CONNECT · SPOT THE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 · Lesson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Arithmetic vs geometric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2120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212080" cy="420624"/>
          </a:xfrm>
          <a:prstGeom prst="roundRect">
            <a:avLst/>
          </a:prstGeom>
          <a:solidFill>
            <a:srgbClr val="6E6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212080" cy="210312"/>
          </a:xfrm>
          <a:prstGeom prst="rect">
            <a:avLst/>
          </a:prstGeom>
          <a:solidFill>
            <a:srgbClr val="6E6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48463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ARITHMETIC — add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You </a:t>
            </a:r>
            <a:r>
              <a:rPr sz="1400" b="1" i="0">
                <a:solidFill>
                  <a:srgbClr val="1D1A33"/>
                </a:solidFill>
                <a:latin typeface="Calibri"/>
              </a:rPr>
              <a:t>add</a:t>
            </a:r>
            <a:r>
              <a:rPr sz="1400" b="0" i="0">
                <a:solidFill>
                  <a:srgbClr val="1D1A33"/>
                </a:solidFill>
                <a:latin typeface="Calibri"/>
              </a:rPr>
              <a:t> a fixed amount (d) each step.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2, 5, 8, 11, …   </a:t>
            </a:r>
            <a:r>
              <a:rPr sz="1400" b="0" i="0">
                <a:solidFill>
                  <a:srgbClr val="6E6A8A"/>
                </a:solidFill>
                <a:latin typeface="Calibri"/>
              </a:rPr>
              <a:t>(+3)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39" y="3931920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7C4DFF"/>
                </a:solidFill>
              </a:defRPr>
            </a:pPr>
            <a14:m>
              <m:oMathPara>
                <m:oMath>
                  <m:sSub>
                    <m:e>
                      <m:r>
                        <a:rPr sz="2000">
                          <a:solidFill>
                            <a:srgbClr val="7C4DFF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2000">
                          <a:solidFill>
                            <a:srgbClr val="7C4DFF"/>
                          </a:solidFill>
                        </a:rPr>
                        <m:t xml:space="preserve">n</m:t>
                      </m:r>
                    </m:sub>
                  </m:sSub>
                  <m:r>
                    <a:rPr sz="2000">
                      <a:solidFill>
                        <a:srgbClr val="7C4DFF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7C4DFF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7C4DFF"/>
                      </a:solidFill>
                    </a:rPr>
                    <m:t xml:space="preserve"> </m:t>
                  </m:r>
                  <m:sSub>
                    <m:e>
                      <m:r>
                        <a:rPr sz="2000">
                          <a:solidFill>
                            <a:srgbClr val="7C4DFF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2000">
                          <a:solidFill>
                            <a:srgbClr val="7C4DFF"/>
                          </a:solidFill>
                        </a:rPr>
                        <m:t xml:space="preserve">1</m:t>
                      </m:r>
                    </m:sub>
                  </m:sSub>
                  <m:r>
                    <a:rPr sz="2000">
                      <a:solidFill>
                        <a:srgbClr val="7C4DFF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7C4DFF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7C4DFF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7C4DFF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7C4DFF"/>
                      </a:solidFill>
                    </a:rPr>
                    <m:t xml:space="preserve">n</m:t>
                  </m:r>
                  <m:r>
                    <a:rPr sz="2000">
                      <a:solidFill>
                        <a:srgbClr val="7C4DFF"/>
                      </a:solidFill>
                    </a:rPr>
                    <m:t xml:space="preserve">−</m:t>
                  </m:r>
                  <m:r>
                    <a:rPr sz="2000">
                      <a:solidFill>
                        <a:srgbClr val="7C4DFF"/>
                      </a:solidFill>
                    </a:rPr>
                    <m:t xml:space="preserve">1</m:t>
                  </m:r>
                  <m:r>
                    <a:rPr sz="2000">
                      <a:solidFill>
                        <a:srgbClr val="7C4DFF"/>
                      </a:solidFill>
                    </a:rPr>
                    <m:t xml:space="preserve">)</m:t>
                  </m:r>
                  <m:r>
                    <a:rPr sz="2000">
                      <a:solidFill>
                        <a:srgbClr val="7C4DFF"/>
                      </a:solidFill>
                    </a:rPr>
                    <m:t xml:space="preserve">d</m:t>
                  </m:r>
                </m:oMath>
              </m:oMathPara>
            </a14:m>
          </a:p>
        </p:txBody>
      </p:sp>
      <p:sp>
        <p:nvSpPr>
          <p:cNvPr id="16" name="Rounded Rectangle 15"/>
          <p:cNvSpPr/>
          <p:nvPr/>
        </p:nvSpPr>
        <p:spPr>
          <a:xfrm>
            <a:off x="6035040" y="1691640"/>
            <a:ext cx="54864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GEOMETRIC — multiply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28600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You </a:t>
            </a:r>
            <a:r>
              <a:rPr sz="1400" b="1" i="0">
                <a:solidFill>
                  <a:srgbClr val="1D1A33"/>
                </a:solidFill>
                <a:latin typeface="Calibri"/>
              </a:rPr>
              <a:t>multiply</a:t>
            </a:r>
            <a:r>
              <a:rPr sz="1400" b="0" i="0">
                <a:solidFill>
                  <a:srgbClr val="1D1A33"/>
                </a:solidFill>
                <a:latin typeface="Calibri"/>
              </a:rPr>
              <a:t> by a fixed ratio (r) each step.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9718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2, 6, 18, 54, …   </a:t>
            </a:r>
            <a:r>
              <a:rPr sz="1400" b="0" i="0">
                <a:solidFill>
                  <a:srgbClr val="6E6A8A"/>
                </a:solidFill>
                <a:latin typeface="Calibri"/>
              </a:rPr>
              <a:t>(×3)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38862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r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sSub>
                        <m:e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u</m:t>
                          </m:r>
                        </m:e>
                        <m:sub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n</m:t>
                          </m:r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+</m:t>
                          </m:r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1</m:t>
                          </m:r>
                        </m:sub>
                      </m:sSub>
                    </m:num>
                    <m:den>
                      <m:sSub>
                        <m:e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u</m:t>
                          </m:r>
                        </m:e>
                        <m:sub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n</m:t>
                          </m:r>
                        </m:sub>
                      </m:sSub>
                    </m:den>
                  </m:f>
                  <m:r>
                    <a:rPr sz="22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sSub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b>
                  </m:sSub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sSub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b>
                  </m:sSub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r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p>
                  </m:sSup>
                </m:oMath>
              </m:oMathPara>
            </a14:m>
          </a:p>
        </p:txBody>
      </p:sp>
      <p:sp>
        <p:nvSpPr>
          <p:cNvPr id="23" name="Rounded Rectangle 22"/>
          <p:cNvSpPr/>
          <p:nvPr/>
        </p:nvSpPr>
        <p:spPr>
          <a:xfrm>
            <a:off x="640080" y="5349240"/>
            <a:ext cx="10881360" cy="868680"/>
          </a:xfrm>
          <a:prstGeom prst="roundRect">
            <a:avLst/>
          </a:prstGeom>
          <a:solidFill>
            <a:srgbClr val="FFF8E6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440680"/>
            <a:ext cx="7863840" cy="7315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B8860B"/>
                </a:solidFill>
                <a:latin typeface="Calibri"/>
              </a:rPr>
              <a:t>Quick check  </a:t>
            </a:r>
            <a:r>
              <a:rPr sz="1250" b="0" i="0">
                <a:solidFill>
                  <a:srgbClr val="1D1A33"/>
                </a:solidFill>
                <a:latin typeface="Calibri"/>
              </a:rPr>
              <a:t>Which are geometric?  (a) 5,10,15,20  (b) 5,10,20,40  (c) 81,27,9,3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5486400"/>
            <a:ext cx="2468880" cy="594360"/>
          </a:xfrm>
          <a:prstGeom prst="roundRect">
            <a:avLst/>
          </a:prstGeom>
          <a:solidFill>
            <a:srgbClr val="E6F7F3"/>
          </a:solidFill>
          <a:ln w="1524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5486400"/>
            <a:ext cx="2468880" cy="5943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A896"/>
                </a:solidFill>
                <a:latin typeface="Calibri"/>
              </a:rPr>
              <a:t>(b) and (c)  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 · Lesson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The nth term — building the formula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THE POWER IS (n−1)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331720"/>
            <a:ext cx="5029200" cy="566928"/>
          </a:xfrm>
          <a:prstGeom prst="round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331720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u₁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331720"/>
            <a:ext cx="3657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E6A8A"/>
                </a:solidFill>
                <a:latin typeface="Calibri"/>
              </a:rPr>
              <a:t>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3318" y="2450591"/>
            <a:ext cx="1580083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1400">
                <a:solidFill>
                  <a:srgbClr val="1D1A33"/>
                </a:solidFill>
              </a:defRPr>
            </a:pPr>
            <a14:m>
              <m:oMathPara>
                <m:oMath>
                  <m:sSub>
                    <m:e>
                      <m:r>
                        <a:rPr sz="1400">
                          <a:solidFill>
                            <a:srgbClr val="1D1A33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14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</m:sub>
                  </m:sSub>
                </m:oMath>
              </m:oMathPara>
            </a14:m>
          </a:p>
        </p:txBody>
      </p:sp>
      <p:sp>
        <p:nvSpPr>
          <p:cNvPr id="17" name="Rounded Rectangle 16"/>
          <p:cNvSpPr/>
          <p:nvPr/>
        </p:nvSpPr>
        <p:spPr>
          <a:xfrm>
            <a:off x="868680" y="2990087"/>
            <a:ext cx="5029200" cy="566928"/>
          </a:xfrm>
          <a:prstGeom prst="round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990087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u₂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2990087"/>
            <a:ext cx="3657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E6A8A"/>
                </a:solidFill>
                <a:latin typeface="Calibri"/>
              </a:rP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3318" y="3108959"/>
            <a:ext cx="1580083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1400">
                <a:solidFill>
                  <a:srgbClr val="1D1A33"/>
                </a:solidFill>
              </a:defRPr>
            </a:pPr>
            <a14:m>
              <m:oMathPara>
                <m:oMath>
                  <m:sSub>
                    <m:e>
                      <m:r>
                        <a:rPr sz="1400">
                          <a:solidFill>
                            <a:srgbClr val="1D1A33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14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</m:sub>
                  </m:sSub>
                  <m:r>
                    <a:rPr sz="14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1400">
                      <a:solidFill>
                        <a:srgbClr val="1D1A33"/>
                      </a:solidFill>
                    </a:rPr>
                    <m:t xml:space="preserve">r</m:t>
                  </m:r>
                </m:oMath>
              </m:oMathPara>
            </a14:m>
          </a:p>
        </p:txBody>
      </p:sp>
      <p:sp>
        <p:nvSpPr>
          <p:cNvPr id="21" name="Rounded Rectangle 20"/>
          <p:cNvSpPr/>
          <p:nvPr/>
        </p:nvSpPr>
        <p:spPr>
          <a:xfrm>
            <a:off x="868680" y="3648455"/>
            <a:ext cx="5029200" cy="566928"/>
          </a:xfrm>
          <a:prstGeom prst="round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648455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u₃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648455"/>
            <a:ext cx="3657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E6A8A"/>
                </a:solidFill>
                <a:latin typeface="Calibri"/>
              </a:rPr>
              <a:t>=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3318" y="3767327"/>
            <a:ext cx="1580083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1400">
                <a:solidFill>
                  <a:srgbClr val="1D1A33"/>
                </a:solidFill>
              </a:defRPr>
            </a:pPr>
            <a14:m>
              <m:oMathPara>
                <m:oMath>
                  <m:sSub>
                    <m:e>
                      <m:r>
                        <a:rPr sz="1400">
                          <a:solidFill>
                            <a:srgbClr val="1D1A33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14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</m:sub>
                  </m:sSub>
                  <m:r>
                    <a:rPr sz="1400">
                      <a:solidFill>
                        <a:srgbClr val="1D1A33"/>
                      </a:solidFill>
                    </a:rPr>
                    <m:t xml:space="preserve"> </m:t>
                  </m:r>
                  <m:sSup>
                    <m:e>
                      <m:r>
                        <a:rPr sz="1400">
                          <a:solidFill>
                            <a:srgbClr val="1D1A33"/>
                          </a:solidFill>
                        </a:rPr>
                        <m:t xml:space="preserve">r</m:t>
                      </m:r>
                    </m:e>
                    <m:sup>
                      <m:r>
                        <a:rPr sz="14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</m:oMath>
              </m:oMathPara>
            </a14:m>
          </a:p>
        </p:txBody>
      </p:sp>
      <p:sp>
        <p:nvSpPr>
          <p:cNvPr id="25" name="Rounded Rectangle 24"/>
          <p:cNvSpPr/>
          <p:nvPr/>
        </p:nvSpPr>
        <p:spPr>
          <a:xfrm>
            <a:off x="868680" y="4306823"/>
            <a:ext cx="5029200" cy="566928"/>
          </a:xfrm>
          <a:prstGeom prst="round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306823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u₄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4306823"/>
            <a:ext cx="3657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E6A8A"/>
                </a:solidFill>
                <a:latin typeface="Calibri"/>
              </a:rPr>
              <a:t>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3318" y="4425695"/>
            <a:ext cx="1580083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1400">
                <a:solidFill>
                  <a:srgbClr val="1D1A33"/>
                </a:solidFill>
              </a:defRPr>
            </a:pPr>
            <a14:m>
              <m:oMathPara>
                <m:oMath>
                  <m:sSub>
                    <m:e>
                      <m:r>
                        <a:rPr sz="1400">
                          <a:solidFill>
                            <a:srgbClr val="1D1A33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14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</m:sub>
                  </m:sSub>
                  <m:r>
                    <a:rPr sz="1400">
                      <a:solidFill>
                        <a:srgbClr val="1D1A33"/>
                      </a:solidFill>
                    </a:rPr>
                    <m:t xml:space="preserve"> </m:t>
                  </m:r>
                  <m:sSup>
                    <m:e>
                      <m:r>
                        <a:rPr sz="1400">
                          <a:solidFill>
                            <a:srgbClr val="1D1A33"/>
                          </a:solidFill>
                        </a:rPr>
                        <m:t xml:space="preserve">r</m:t>
                      </m:r>
                    </m:e>
                    <m:sup>
                      <m:r>
                        <a:rPr sz="14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</m:sup>
                  </m:sSup>
                </m:oMath>
              </m:oMathPara>
            </a14:m>
          </a:p>
        </p:txBody>
      </p:sp>
      <p:sp>
        <p:nvSpPr>
          <p:cNvPr id="29" name="Rounded Rectangle 28"/>
          <p:cNvSpPr/>
          <p:nvPr/>
        </p:nvSpPr>
        <p:spPr>
          <a:xfrm>
            <a:off x="868680" y="4965191"/>
            <a:ext cx="5029200" cy="566928"/>
          </a:xfrm>
          <a:prstGeom prst="roundRect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965191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uₙ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4965191"/>
            <a:ext cx="3657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E6A8A"/>
                </a:solidFill>
                <a:latin typeface="Calibri"/>
              </a:rPr>
              <a:t>=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33318" y="5084063"/>
            <a:ext cx="1580083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14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14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1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b>
                  </m:sSub>
                  <m:r>
                    <a:rPr sz="1400">
                      <a:solidFill>
                        <a:srgbClr val="4F3DF5"/>
                      </a:solidFill>
                    </a:rPr>
                    <m:t xml:space="preserve"> </m:t>
                  </m:r>
                  <m:sSup>
                    <m:e>
                      <m:r>
                        <a:rPr sz="1400">
                          <a:solidFill>
                            <a:srgbClr val="4F3DF5"/>
                          </a:solidFill>
                        </a:rPr>
                        <m:t xml:space="preserve">r</m:t>
                      </m:r>
                    </m:e>
                    <m:sup>
                      <m:r>
                        <a:rPr sz="14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1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  <m:r>
                        <a:rPr sz="14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1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p>
                  </m:sSup>
                </m:oMath>
              </m:oMathPara>
            </a14:m>
          </a:p>
        </p:txBody>
      </p:sp>
      <p:sp>
        <p:nvSpPr>
          <p:cNvPr id="33" name="Rounded Rectangle 32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FORMULA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2468880"/>
            <a:ext cx="3291839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30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30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30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b>
                  </m:sSub>
                  <m:r>
                    <a:rPr sz="30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30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3000">
                      <a:solidFill>
                        <a:srgbClr val="4F3DF5"/>
                      </a:solidFill>
                    </a:rPr>
                    <m:t xml:space="preserve"> </m:t>
                  </m:r>
                  <m:sSub>
                    <m:e>
                      <m:r>
                        <a:rPr sz="30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30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b>
                  </m:sSub>
                  <m:r>
                    <a:rPr sz="3000">
                      <a:solidFill>
                        <a:srgbClr val="4F3DF5"/>
                      </a:solidFill>
                    </a:rPr>
                    <m:t xml:space="preserve"> </m:t>
                  </m:r>
                  <m:sSup>
                    <m:e>
                      <m:r>
                        <a:rPr sz="3000">
                          <a:solidFill>
                            <a:srgbClr val="4F3DF5"/>
                          </a:solidFill>
                        </a:rPr>
                        <m:t xml:space="preserve">r</m:t>
                      </m:r>
                    </m:e>
                    <m:sup>
                      <m:r>
                        <a:rPr sz="30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30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  <m:r>
                        <a:rPr sz="30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30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p>
                  </m:sSup>
                </m:oMath>
              </m:oMathPara>
            </a14:m>
          </a:p>
        </p:txBody>
      </p:sp>
      <p:sp>
        <p:nvSpPr>
          <p:cNvPr id="38" name="TextBox 37"/>
          <p:cNvSpPr txBox="1"/>
          <p:nvPr/>
        </p:nvSpPr>
        <p:spPr>
          <a:xfrm>
            <a:off x="6675120" y="3383280"/>
            <a:ext cx="4572000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7C4DFF"/>
                </a:solidFill>
                <a:latin typeface="Calibri"/>
              </a:rPr>
              <a:t>u₁ </a:t>
            </a:r>
            <a:r>
              <a:rPr sz="1400" b="0" i="0">
                <a:solidFill>
                  <a:srgbClr val="1D1A33"/>
                </a:solidFill>
                <a:latin typeface="Calibri"/>
              </a:rPr>
              <a:t>= first term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  <a:r>
              <a:rPr sz="1500" b="1" i="0">
                <a:solidFill>
                  <a:srgbClr val="7C4DFF"/>
                </a:solidFill>
                <a:latin typeface="Calibri"/>
              </a:rPr>
              <a:t>r  </a:t>
            </a:r>
            <a:r>
              <a:rPr sz="1400" b="0" i="0">
                <a:solidFill>
                  <a:srgbClr val="1D1A33"/>
                </a:solidFill>
                <a:latin typeface="Calibri"/>
              </a:rPr>
              <a:t>= common ratio (later ÷ earlier)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  <a:r>
              <a:rPr sz="1500" b="1" i="0">
                <a:solidFill>
                  <a:srgbClr val="7C4DFF"/>
                </a:solidFill>
                <a:latin typeface="Calibri"/>
              </a:rPr>
              <a:t>n  </a:t>
            </a:r>
            <a:r>
              <a:rPr sz="1400" b="0" i="0">
                <a:solidFill>
                  <a:srgbClr val="1D1A33"/>
                </a:solidFill>
                <a:latin typeface="Calibri"/>
              </a:rPr>
              <a:t>= the term number you want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  <a:r>
              <a:rPr sz="1300" b="1" i="0">
                <a:solidFill>
                  <a:srgbClr val="FF6B6B"/>
                </a:solidFill>
                <a:latin typeface="Calibri"/>
              </a:rPr>
              <a:t>Note: </a:t>
            </a:r>
            <a:r>
              <a:rPr sz="1300" b="0" i="0">
                <a:solidFill>
                  <a:srgbClr val="1D1A33"/>
                </a:solidFill>
                <a:latin typeface="Calibri"/>
              </a:rPr>
              <a:t>the exponent is (n−1), NOT 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 · Lesson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I do — find the 7th term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A geometric sequence has first term 5 and common ratio 3.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the 7th term.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 — watch my 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33172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Step 1   </a:t>
            </a:r>
            <a:r>
              <a:rPr sz="1400" b="0" i="0">
                <a:solidFill>
                  <a:srgbClr val="1D1A33"/>
                </a:solidFill>
                <a:latin typeface="Calibri"/>
              </a:rPr>
              <a:t>Write what we know:  u₁ = 5,  r = 3,  n =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88036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Step 2   </a:t>
            </a:r>
            <a:r>
              <a:rPr sz="1400" b="0" i="0">
                <a:solidFill>
                  <a:srgbClr val="1D1A33"/>
                </a:solidFill>
                <a:latin typeface="Calibri"/>
              </a:rPr>
              <a:t>Write the formula, then substitute: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3337560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sSub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7</m:t>
                      </m:r>
                    </m:sub>
                  </m:sSub>
                  <m:r>
                    <a:rPr sz="20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 </m:t>
                  </m:r>
                  <m:sSub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</m:sub>
                  </m:sSub>
                  <m:r>
                    <a:rPr sz="2000">
                      <a:solidFill>
                        <a:srgbClr val="1D1A33"/>
                      </a:solidFill>
                    </a:rPr>
                    <m:t xml:space="preserve"> </m:t>
                  </m:r>
                  <m:sSup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r</m:t>
                      </m:r>
                    </m:e>
                    <m: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 </m:t>
                      </m:r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7</m:t>
                      </m:r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−</m:t>
                      </m:r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</m:sup>
                  </m:sSup>
                  <m:r>
                    <a:rPr sz="20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5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×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 </m:t>
                  </m:r>
                  <m:sSup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</m:e>
                    <m: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6</m:t>
                      </m:r>
                    </m:sup>
                  </m:sSup>
                </m:oMath>
              </m:oMathPara>
            </a14:m>
          </a:p>
        </p:txBody>
      </p:sp>
      <p:sp>
        <p:nvSpPr>
          <p:cNvPr id="21" name="TextBox 20"/>
          <p:cNvSpPr txBox="1"/>
          <p:nvPr/>
        </p:nvSpPr>
        <p:spPr>
          <a:xfrm>
            <a:off x="4663440" y="411480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Step 3   </a:t>
            </a:r>
            <a:r>
              <a:rPr sz="1400" b="0" i="0">
                <a:solidFill>
                  <a:srgbClr val="1D1A33"/>
                </a:solidFill>
                <a:latin typeface="Calibri"/>
              </a:rPr>
              <a:t>Evaluate:  3⁶ = 729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1" y="45720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7</m:t>
                      </m:r>
                    </m:sub>
                  </m:sSub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5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×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7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9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3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6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4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5</m:t>
                  </m:r>
                </m:oMath>
              </m:oMathPara>
            </a14:m>
          </a:p>
        </p:txBody>
      </p:sp>
      <p:sp>
        <p:nvSpPr>
          <p:cNvPr id="23" name="Rectangle 22"/>
          <p:cNvSpPr/>
          <p:nvPr/>
        </p:nvSpPr>
        <p:spPr>
          <a:xfrm>
            <a:off x="4434840" y="5897880"/>
            <a:ext cx="708660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A896"/>
                </a:solidFill>
                <a:latin typeface="Calibri"/>
              </a:rPr>
              <a:t>Talk aloud: </a:t>
            </a:r>
            <a:r>
              <a:rPr sz="1250" b="0" i="1">
                <a:solidFill>
                  <a:srgbClr val="6E6A8A"/>
                </a:solidFill>
                <a:latin typeface="Calibri"/>
              </a:rPr>
              <a:t>formula → substitute → evaluate. The substitution line earns the method mark even if the arithmetic slips.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28C7A"/>
                </a:solidFill>
                <a:latin typeface="Calibri"/>
              </a:rPr>
              <a:t>WE DO ·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 · Lesson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WE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We do — let's fill the gaps together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108813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1088136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1088136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105156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FIND THE 10th TERM OF  2, 6, 18, 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Step 1   u₁ = ____,   r = 6 ÷ 2 = ____,   n = ____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  <a:r>
              <a:rPr sz="1500" b="0" i="0">
                <a:solidFill>
                  <a:srgbClr val="1D1A33"/>
                </a:solidFill>
                <a:latin typeface="Calibri"/>
              </a:rPr>
              <a:t>Step 2   Substitute:        u₁₀ = ____ × ____ ^(____)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  <a:r>
              <a:rPr sz="1500" b="0" i="0">
                <a:solidFill>
                  <a:srgbClr val="1D1A33"/>
                </a:solidFill>
                <a:latin typeface="Calibri"/>
              </a:rPr>
              <a:t>Step 3   Evaluate:           u₁₀ =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10881360" cy="1783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4288536"/>
            <a:ext cx="10552176" cy="15270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Worked answer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Step 1   u₁ = 2,   r = 3,   n = 10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Step 2   u₁₀ = 2 × 3⁹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Step 3   u₁₀ = 2 × 19683 = 39 366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 · Lesson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quick fire (4 min)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1.  Find the 5th term of  3, 12, 48, 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  <a:r>
              <a:rPr sz="1500" b="0" i="0">
                <a:solidFill>
                  <a:srgbClr val="1D1A33"/>
                </a:solidFill>
                <a:latin typeface="Calibri"/>
              </a:rPr>
              <a:t>2.  A GP has u₁ = 80 and r = ½. Find the 4th term.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  <a:r>
              <a:rPr sz="1500" b="0" i="0">
                <a:solidFill>
                  <a:srgbClr val="1D1A33"/>
                </a:solidFill>
                <a:latin typeface="Calibri"/>
              </a:rPr>
              <a:t>3.  Find r for the sequence  100, 20, 4, 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  <a:r>
              <a:rPr sz="1500" b="0" i="0">
                <a:solidFill>
                  <a:srgbClr val="1D1A33"/>
                </a:solidFill>
                <a:latin typeface="Calibri"/>
              </a:rPr>
              <a:t>4.  Find the 8th term of  1, −2, 4, −8, 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  <a:r>
              <a:rPr sz="1350" b="0" i="0">
                <a:solidFill>
                  <a:srgbClr val="6E6A8A"/>
                </a:solidFill>
                <a:latin typeface="Calibri"/>
              </a:rPr>
              <a:t>      (watch the sign!)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Mini-plenary — check (click)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3 × 4⁴ = 768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80 × (½)³ = 10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r = 20 ÷ 100 = 0.2  (= 1/5)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1 × (−2)⁷ = −128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Got 4/4? You've nailed the nth term.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SUMMING A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 · Lesson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Adding the terms — the sum Sₙ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TWO FORMS (same thing)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402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6E6A8A"/>
                </a:solidFill>
                <a:latin typeface="Calibri"/>
              </a:rPr>
              <a:t>Use this form when r &gt; 1: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2606040"/>
            <a:ext cx="373075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34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3400">
                          <a:solidFill>
                            <a:srgbClr val="4F3DF5"/>
                          </a:solidFill>
                        </a:rPr>
                        <m:t xml:space="preserve">S</m:t>
                      </m:r>
                    </m:e>
                    <m:sub>
                      <m:r>
                        <a:rPr sz="3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b>
                  </m:sSub>
                  <m:r>
                    <a:rPr sz="3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sSub>
                        <m:e>
                          <m:r>
                            <a:rPr sz="3400">
                              <a:solidFill>
                                <a:srgbClr val="4F3DF5"/>
                              </a:solidFill>
                            </a:rPr>
                            <m:t xml:space="preserve">u</m:t>
                          </m:r>
                        </m:e>
                        <m:sub>
                          <m:r>
                            <a:rPr sz="3400">
                              <a:solidFill>
                                <a:srgbClr val="4F3DF5"/>
                              </a:solidFill>
                            </a:rPr>
                            <m:t xml:space="preserve">1</m:t>
                          </m:r>
                        </m:sub>
                      </m:sSub>
                      <m:r>
                        <a:rPr sz="34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3400">
                          <a:solidFill>
                            <a:srgbClr val="4F3DF5"/>
                          </a:solidFill>
                        </a:rPr>
                        <m:t xml:space="preserve">(</m:t>
                      </m:r>
                      <m:sSup>
                        <m:e>
                          <m:r>
                            <a:rPr sz="3400">
                              <a:solidFill>
                                <a:srgbClr val="4F3DF5"/>
                              </a:solidFill>
                            </a:rPr>
                            <m:t xml:space="preserve">r</m:t>
                          </m:r>
                        </m:e>
                        <m:sup>
                          <m:r>
                            <a:rPr sz="3400">
                              <a:solidFill>
                                <a:srgbClr val="4F3DF5"/>
                              </a:solidFill>
                            </a:rPr>
                            <m:t xml:space="preserve"> </m:t>
                          </m:r>
                          <m:r>
                            <a:rPr sz="3400">
                              <a:solidFill>
                                <a:srgbClr val="4F3DF5"/>
                              </a:solidFill>
                            </a:rPr>
                            <m:t xml:space="preserve">n</m:t>
                          </m:r>
                        </m:sup>
                      </m:sSup>
                      <m:r>
                        <a:rPr sz="34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3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  <m:r>
                        <a:rPr sz="34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</m:num>
                    <m:den>
                      <m:r>
                        <a:rPr sz="3400">
                          <a:solidFill>
                            <a:srgbClr val="4F3DF5"/>
                          </a:solidFill>
                        </a:rPr>
                        <m:t xml:space="preserve">r</m:t>
                      </m:r>
                      <m:r>
                        <a:rPr sz="34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3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den>
                  </m:f>
                </m:oMath>
              </m:oMathPara>
            </a14:m>
          </a:p>
        </p:txBody>
      </p:sp>
      <p:sp>
        <p:nvSpPr>
          <p:cNvPr id="15" name="TextBox 14"/>
          <p:cNvSpPr txBox="1"/>
          <p:nvPr/>
        </p:nvSpPr>
        <p:spPr>
          <a:xfrm>
            <a:off x="868680" y="36576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6E6A8A"/>
                </a:solidFill>
                <a:latin typeface="Calibri"/>
              </a:rPr>
              <a:t>Use this form when r &lt; 1 (keeps it positive):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4023360"/>
            <a:ext cx="373075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3400">
                <a:solidFill>
                  <a:srgbClr val="7C4DFF"/>
                </a:solidFill>
              </a:defRPr>
            </a:pPr>
            <a14:m>
              <m:oMathPara>
                <m:oMath>
                  <m:sSub>
                    <m:e>
                      <m:r>
                        <a:rPr sz="3400">
                          <a:solidFill>
                            <a:srgbClr val="7C4DFF"/>
                          </a:solidFill>
                        </a:rPr>
                        <m:t xml:space="preserve">S</m:t>
                      </m:r>
                    </m:e>
                    <m:sub>
                      <m:r>
                        <a:rPr sz="3400">
                          <a:solidFill>
                            <a:srgbClr val="7C4DFF"/>
                          </a:solidFill>
                        </a:rPr>
                        <m:t xml:space="preserve">n</m:t>
                      </m:r>
                    </m:sub>
                  </m:sSub>
                  <m:r>
                    <a:rPr sz="3400">
                      <a:solidFill>
                        <a:srgbClr val="7C4DFF"/>
                      </a:solidFill>
                    </a:rPr>
                    <m:t xml:space="preserve">=</m:t>
                  </m:r>
                  <m:f>
                    <m:num>
                      <m:sSub>
                        <m:e>
                          <m:r>
                            <a:rPr sz="3400">
                              <a:solidFill>
                                <a:srgbClr val="7C4DFF"/>
                              </a:solidFill>
                            </a:rPr>
                            <m:t xml:space="preserve">u</m:t>
                          </m:r>
                        </m:e>
                        <m:sub>
                          <m:r>
                            <a:rPr sz="3400">
                              <a:solidFill>
                                <a:srgbClr val="7C4DFF"/>
                              </a:solidFill>
                            </a:rPr>
                            <m:t xml:space="preserve">1</m:t>
                          </m:r>
                        </m:sub>
                      </m:sSub>
                      <m:r>
                        <a:rPr sz="3400">
                          <a:solidFill>
                            <a:srgbClr val="7C4DFF"/>
                          </a:solidFill>
                        </a:rPr>
                        <m:t xml:space="preserve"> </m:t>
                      </m:r>
                      <m:r>
                        <a:rPr sz="3400">
                          <a:solidFill>
                            <a:srgbClr val="7C4DFF"/>
                          </a:solidFill>
                        </a:rPr>
                        <m:t xml:space="preserve">(</m:t>
                      </m:r>
                      <m:r>
                        <a:rPr sz="3400">
                          <a:solidFill>
                            <a:srgbClr val="7C4DFF"/>
                          </a:solidFill>
                        </a:rPr>
                        <m:t xml:space="preserve">1</m:t>
                      </m:r>
                      <m:r>
                        <a:rPr sz="3400">
                          <a:solidFill>
                            <a:srgbClr val="7C4DFF"/>
                          </a:solidFill>
                        </a:rPr>
                        <m:t xml:space="preserve">−</m:t>
                      </m:r>
                      <m:sSup>
                        <m:e>
                          <m:r>
                            <a:rPr sz="3400">
                              <a:solidFill>
                                <a:srgbClr val="7C4DFF"/>
                              </a:solidFill>
                            </a:rPr>
                            <m:t xml:space="preserve">r</m:t>
                          </m:r>
                        </m:e>
                        <m:sup>
                          <m:r>
                            <a:rPr sz="3400">
                              <a:solidFill>
                                <a:srgbClr val="7C4DFF"/>
                              </a:solidFill>
                            </a:rPr>
                            <m:t xml:space="preserve"> </m:t>
                          </m:r>
                          <m:r>
                            <a:rPr sz="3400">
                              <a:solidFill>
                                <a:srgbClr val="7C4DFF"/>
                              </a:solidFill>
                            </a:rPr>
                            <m:t xml:space="preserve">n</m:t>
                          </m:r>
                        </m:sup>
                      </m:sSup>
                      <m:r>
                        <a:rPr sz="3400">
                          <a:solidFill>
                            <a:srgbClr val="7C4DFF"/>
                          </a:solidFill>
                        </a:rPr>
                        <m:t xml:space="preserve">)</m:t>
                      </m:r>
                    </m:num>
                    <m:den>
                      <m:r>
                        <a:rPr sz="3400">
                          <a:solidFill>
                            <a:srgbClr val="7C4DFF"/>
                          </a:solidFill>
                        </a:rPr>
                        <m:t xml:space="preserve">1</m:t>
                      </m:r>
                      <m:r>
                        <a:rPr sz="3400">
                          <a:solidFill>
                            <a:srgbClr val="7C4DFF"/>
                          </a:solidFill>
                        </a:rPr>
                        <m:t xml:space="preserve">−</m:t>
                      </m:r>
                      <m:r>
                        <a:rPr sz="3400">
                          <a:solidFill>
                            <a:srgbClr val="7C4DFF"/>
                          </a:solidFill>
                        </a:rPr>
                        <m:t xml:space="preserve">r</m:t>
                      </m:r>
                    </m:den>
                  </m:f>
                </m:oMath>
              </m:oMathPara>
            </a14:m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GDC METHOD — Paper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286000"/>
            <a:ext cx="4572000" cy="3383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On the calculator you can sum directly: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  <a:r>
              <a:rPr sz="1400" b="0" i="0">
                <a:solidFill>
                  <a:srgbClr val="1D1A33"/>
                </a:solidFill>
                <a:latin typeface="Calibri"/>
              </a:rPr>
              <a:t>•  menu → Sequence / Σ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  <a:r>
              <a:rPr sz="1400" b="0" i="0">
                <a:solidFill>
                  <a:srgbClr val="1D1A33"/>
                </a:solidFill>
                <a:latin typeface="Calibri"/>
              </a:rPr>
              <a:t>•  enter u₁, r and 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  <a:r>
              <a:rPr sz="1400" b="0" i="0">
                <a:solidFill>
                  <a:srgbClr val="1D1A33"/>
                </a:solidFill>
                <a:latin typeface="Calibri"/>
              </a:rPr>
              <a:t>•  or type  Σ( u₁·r^(x−1), x, 1, n 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  <a:r>
              <a:rPr sz="1300" b="1" i="0">
                <a:solidFill>
                  <a:srgbClr val="FF6B6B"/>
                </a:solidFill>
                <a:latin typeface="Calibri"/>
              </a:rPr>
              <a:t>Paper 1 (no GDC): </a:t>
            </a:r>
            <a:r>
              <a:rPr sz="1300" b="0" i="0">
                <a:solidFill>
                  <a:srgbClr val="1D1A33"/>
                </a:solidFill>
                <a:latin typeface="Calibri"/>
              </a:rPr>
              <a:t>you MUST show the formula and working.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 · Lesson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I do — sum the first 8 terms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the sum of the first 8 terms of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3 + 6 + 12 + 24 +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33172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Step 1   </a:t>
            </a:r>
            <a:r>
              <a:rPr sz="1400" b="0" i="0">
                <a:solidFill>
                  <a:srgbClr val="1D1A33"/>
                </a:solidFill>
                <a:latin typeface="Calibri"/>
              </a:rPr>
              <a:t>u₁ = 3,  r = 6 ÷ 3 = 2,  n = 8.   r &gt; 1, so: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2880360"/>
            <a:ext cx="351129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3200">
                <a:solidFill>
                  <a:srgbClr val="1D1A33"/>
                </a:solidFill>
              </a:defRPr>
            </a:pPr>
            <a14:m>
              <m:oMathPara>
                <m:oMath>
                  <m:sSub>
                    <m:e>
                      <m:r>
                        <a:rPr sz="3200">
                          <a:solidFill>
                            <a:srgbClr val="1D1A33"/>
                          </a:solidFill>
                        </a:rPr>
                        <m:t xml:space="preserve">S</m:t>
                      </m:r>
                    </m:e>
                    <m:sub>
                      <m:r>
                        <a:rPr sz="3200">
                          <a:solidFill>
                            <a:srgbClr val="1D1A33"/>
                          </a:solidFill>
                        </a:rPr>
                        <m:t xml:space="preserve">8</m:t>
                      </m:r>
                    </m:sub>
                  </m:sSub>
                  <m:r>
                    <a:rPr sz="3200">
                      <a:solidFill>
                        <a:srgbClr val="1D1A33"/>
                      </a:solidFill>
                    </a:rPr>
                    <m:t xml:space="preserve">=</m:t>
                  </m:r>
                  <m:f>
                    <m:num>
                      <m:r>
                        <a:rPr sz="32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  <m:r>
                        <a:rPr sz="3200">
                          <a:solidFill>
                            <a:srgbClr val="1D1A33"/>
                          </a:solidFill>
                        </a:rPr>
                        <m:t xml:space="preserve"> </m:t>
                      </m:r>
                      <m:r>
                        <a:rPr sz="3200">
                          <a:solidFill>
                            <a:srgbClr val="1D1A33"/>
                          </a:solidFill>
                        </a:rPr>
                        <m:t xml:space="preserve">(</m:t>
                      </m:r>
                      <m:sSup>
                        <m:e>
                          <m:r>
                            <a:rPr sz="3200">
                              <a:solidFill>
                                <a:srgbClr val="1D1A33"/>
                              </a:solidFill>
                            </a:rPr>
                            <m:t xml:space="preserve">2</m:t>
                          </m:r>
                        </m:e>
                        <m:sup>
                          <m:r>
                            <a:rPr sz="3200">
                              <a:solidFill>
                                <a:srgbClr val="1D1A33"/>
                              </a:solidFill>
                            </a:rPr>
                            <m:t xml:space="preserve">8</m:t>
                          </m:r>
                        </m:sup>
                      </m:sSup>
                      <m:r>
                        <a:rPr sz="3200">
                          <a:solidFill>
                            <a:srgbClr val="1D1A33"/>
                          </a:solidFill>
                        </a:rPr>
                        <m:t xml:space="preserve">−</m:t>
                      </m:r>
                      <m:r>
                        <a:rPr sz="32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  <m:r>
                        <a:rPr sz="3200">
                          <a:solidFill>
                            <a:srgbClr val="1D1A33"/>
                          </a:solidFill>
                        </a:rPr>
                        <m:t xml:space="preserve">)</m:t>
                      </m:r>
                    </m:num>
                    <m:den>
                      <m:r>
                        <a:rPr sz="32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  <m:r>
                        <a:rPr sz="3200">
                          <a:solidFill>
                            <a:srgbClr val="1D1A33"/>
                          </a:solidFill>
                        </a:rPr>
                        <m:t xml:space="preserve">−</m:t>
                      </m:r>
                      <m:r>
                        <a:rPr sz="32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</m:den>
                  </m:f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84048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Step 2   </a:t>
            </a:r>
            <a:r>
              <a:rPr sz="1400" b="0" i="0">
                <a:solidFill>
                  <a:srgbClr val="1D1A33"/>
                </a:solidFill>
                <a:latin typeface="Calibri"/>
              </a:rPr>
              <a:t>2⁸ = 256: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4251960"/>
            <a:ext cx="351129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32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3200">
                          <a:solidFill>
                            <a:srgbClr val="4F3DF5"/>
                          </a:solidFill>
                        </a:rPr>
                        <m:t xml:space="preserve">S</m:t>
                      </m:r>
                    </m:e>
                    <m:sub>
                      <m:r>
                        <a:rPr sz="3200">
                          <a:solidFill>
                            <a:srgbClr val="4F3DF5"/>
                          </a:solidFill>
                        </a:rPr>
                        <m:t xml:space="preserve">8</m:t>
                      </m:r>
                    </m:sub>
                  </m:sSub>
                  <m:r>
                    <a:rPr sz="3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3200">
                          <a:solidFill>
                            <a:srgbClr val="4F3DF5"/>
                          </a:solidFill>
                        </a:rPr>
                        <m:t xml:space="preserve">3</m:t>
                      </m:r>
                      <m:r>
                        <a:rPr sz="3200">
                          <a:solidFill>
                            <a:srgbClr val="4F3DF5"/>
                          </a:solidFill>
                        </a:rPr>
                        <m:t xml:space="preserve"> </m:t>
                      </m:r>
                      <m:r>
                        <a:rPr sz="3200">
                          <a:solidFill>
                            <a:srgbClr val="4F3DF5"/>
                          </a:solidFill>
                        </a:rPr>
                        <m:t xml:space="preserve">(</m:t>
                      </m:r>
                      <m:r>
                        <a:rPr sz="3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  <m:r>
                        <a:rPr sz="3200">
                          <a:solidFill>
                            <a:srgbClr val="4F3DF5"/>
                          </a:solidFill>
                        </a:rPr>
                        <m:t xml:space="preserve">5</m:t>
                      </m:r>
                      <m:r>
                        <a:rPr sz="3200">
                          <a:solidFill>
                            <a:srgbClr val="4F3DF5"/>
                          </a:solidFill>
                        </a:rPr>
                        <m:t xml:space="preserve">5</m:t>
                      </m:r>
                      <m:r>
                        <a:rPr sz="32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</m:num>
                    <m:den>
                      <m:r>
                        <a:rPr sz="32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den>
                  </m:f>
                  <m:r>
                    <a:rPr sz="3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3200">
                      <a:solidFill>
                        <a:srgbClr val="4F3DF5"/>
                      </a:solidFill>
                    </a:rPr>
                    <m:t xml:space="preserve">7</m:t>
                  </m:r>
                  <m:r>
                    <a:rPr sz="3200">
                      <a:solidFill>
                        <a:srgbClr val="4F3DF5"/>
                      </a:solidFill>
                    </a:rPr>
                    <m:t xml:space="preserve">6</m:t>
                  </m:r>
                  <m:r>
                    <a:rPr sz="3200">
                      <a:solidFill>
                        <a:srgbClr val="4F3DF5"/>
                      </a:solidFill>
                    </a:rPr>
                    <m:t xml:space="preserve">5</m:t>
                  </m:r>
                </m:oMath>
              </m:oMathPara>
            </a14:m>
          </a:p>
        </p:txBody>
      </p:sp>
      <p:sp>
        <p:nvSpPr>
          <p:cNvPr id="22" name="TextBox 21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A896"/>
                </a:solidFill>
                <a:latin typeface="Calibri"/>
              </a:rPr>
              <a:t>GDC check (Paper 2): </a:t>
            </a:r>
            <a:r>
              <a:rPr sz="1250" b="0" i="1">
                <a:solidFill>
                  <a:srgbClr val="6E6A8A"/>
                </a:solidFill>
                <a:latin typeface="Calibri"/>
              </a:rPr>
              <a:t>Σ(3·2^(x−1), x, 1, 8) = 765 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 · Lesson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sums (5 min)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SHOW YOUR FORMULA &amp; 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1.  Find the sum of the first 6 terms of  4 + 12 + 36 + 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  <a:r>
              <a:rPr sz="1500" b="0" i="0">
                <a:solidFill>
                  <a:srgbClr val="1D1A33"/>
                </a:solidFill>
                <a:latin typeface="Calibri"/>
              </a:rPr>
              <a:t>2.  Find the sum of the first 10 terms of  1 + 2 + 4 + 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  <a:r>
              <a:rPr sz="1500" b="0" i="0">
                <a:solidFill>
                  <a:srgbClr val="1D1A33"/>
                </a:solidFill>
                <a:latin typeface="Calibri"/>
              </a:rPr>
              <a:t>3.  A GP has u₁ = 64, r = ½. Find the sum of the first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  <a:r>
              <a:rPr sz="1500" b="0" i="0">
                <a:solidFill>
                  <a:srgbClr val="1D1A33"/>
                </a:solidFill>
                <a:latin typeface="Calibri"/>
              </a:rPr>
              <a:t>      5 terms.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4(3⁶−1)/(3−1) = 1456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1(2¹⁰−1)/(2−1) = 1023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64(1−(½)⁵)/(1−½) = 124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Tip: for r&lt;1 use the (1−rⁿ)/(1−r) form.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MINI-PLENARY ·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 · Lesson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Diagnostic check — spot the 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10881360" cy="219456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A student writes:  “For the sequence 2, 6, 18, …, the 5th term is  u₅ = 2 × 3⁵ = 486.”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/>
            </a:r>
            <a:r>
              <a:rPr sz="1500" b="0" i="0">
                <a:solidFill>
                  <a:srgbClr val="D7D3F0"/>
                </a:solidFill>
                <a:latin typeface="Calibri"/>
              </a:rPr>
              <a:t>Is the student right? If not, what's the mistake — and the correct answer?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14800"/>
            <a:ext cx="108813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1033272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6B6B"/>
                </a:solidFill>
                <a:latin typeface="Calibri"/>
              </a:rPr>
              <a:t>Wrong.  </a:t>
            </a:r>
            <a:r>
              <a:rPr sz="1400" b="0" i="0">
                <a:solidFill>
                  <a:srgbClr val="1D1A33"/>
                </a:solidFill>
                <a:latin typeface="Calibri"/>
              </a:rPr>
              <a:t>The exponent should be (n−1), not n.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  <a:r>
              <a:rPr sz="1400" b="0" i="0">
                <a:solidFill>
                  <a:srgbClr val="1D1A33"/>
                </a:solidFill>
                <a:latin typeface="Calibri"/>
              </a:rPr>
              <a:t>Correct:  u₅ = 2 × 3⁴ = 2 × 81 = 162.   </a:t>
            </a:r>
            <a:r>
              <a:rPr sz="1300" b="0" i="1">
                <a:solidFill>
                  <a:srgbClr val="6E6A8A"/>
                </a:solidFill>
                <a:latin typeface="Calibri"/>
              </a:rPr>
              <a:t>Using 3⁵ counts one ratio too many.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APPLY · REAL-WORLD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 · Lesson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APPLY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Where this shows up — compound interest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5029200" cy="3383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Money growing at a fixed % each year IS a geometric sequence.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  <a:r>
              <a:rPr sz="1450" b="0" i="0">
                <a:solidFill>
                  <a:srgbClr val="1D1A33"/>
                </a:solidFill>
                <a:latin typeface="Calibri"/>
              </a:rPr>
              <a:t>£1000 at 5% per year: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  <a:r>
              <a:rPr sz="1350" b="0" i="0">
                <a:solidFill>
                  <a:srgbClr val="6E6A8A"/>
                </a:solidFill>
                <a:latin typeface="Calibri"/>
              </a:rPr>
              <a:t>after 1 yr ×1.05,  after 2 yrs ×1.05²…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/>
            </a:r>
            <a:r>
              <a:rPr sz="1450" b="0" i="0">
                <a:solidFill>
                  <a:srgbClr val="1D1A33"/>
                </a:solidFill>
                <a:latin typeface="Calibri"/>
              </a:rPr>
              <a:t>So the value after n years is: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6544" y="50749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00A896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00A896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00A896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00A896"/>
                      </a:solidFill>
                    </a:rPr>
                    <m:t xml:space="preserve">P</m:t>
                  </m:r>
                  <m:r>
                    <a:rPr sz="24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00A896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00A896"/>
                      </a:solidFill>
                    </a:rPr>
                    <m:t xml:space="preserve">1</m:t>
                  </m:r>
                  <m:r>
                    <a:rPr sz="2400">
                      <a:solidFill>
                        <a:srgbClr val="00A896"/>
                      </a:solidFill>
                    </a:rPr>
                    <m:t xml:space="preserve">+</m:t>
                  </m:r>
                  <m:r>
                    <a:rPr sz="2400">
                      <a:solidFill>
                        <a:srgbClr val="00A896"/>
                      </a:solidFill>
                    </a:rPr>
                    <m:t xml:space="preserve">i</m:t>
                  </m:r>
                  <m:sSup>
                    <m:e>
                      <m:r>
                        <a:rPr sz="2400">
                          <a:solidFill>
                            <a:srgbClr val="00A896"/>
                          </a:solidFill>
                        </a:rPr>
                        <m:t xml:space="preserve">)</m:t>
                      </m:r>
                    </m:e>
                    <m:sup>
                      <m:r>
                        <a:rPr sz="2400">
                          <a:solidFill>
                            <a:srgbClr val="00A896"/>
                          </a:solidFill>
                        </a:rPr>
                        <m:t xml:space="preserve"> </m:t>
                      </m:r>
                      <m:r>
                        <a:rPr sz="2400">
                          <a:solidFill>
                            <a:srgbClr val="00A896"/>
                          </a:solidFill>
                        </a:rPr>
                        <m:t xml:space="preserve">n</m:t>
                      </m:r>
                    </m:sup>
                  </m:sSup>
                </m:oMath>
              </m:oMathPara>
            </a14:m>
          </a:p>
        </p:txBody>
      </p:sp>
      <p:sp>
        <p:nvSpPr>
          <p:cNvPr id="15" name="Rounded Rectangle 14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MODEL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D1A33"/>
                </a:solidFill>
                <a:latin typeface="Calibri"/>
              </a:rPr>
              <a:t>£1000, 5% per year, 8 years: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2" y="278892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1D1A33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.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5</m:t>
                  </m:r>
                  <m:sSup>
                    <m:e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)</m:t>
                      </m:r>
                    </m:e>
                    <m:sup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8</m:t>
                      </m:r>
                    </m:sup>
                  </m:sSup>
                </m:oMath>
              </m:oMathPara>
            </a14:m>
          </a:p>
        </p:txBody>
      </p:sp>
      <p:sp>
        <p:nvSpPr>
          <p:cNvPr id="21" name="TextBox 20"/>
          <p:cNvSpPr txBox="1"/>
          <p:nvPr/>
        </p:nvSpPr>
        <p:spPr>
          <a:xfrm>
            <a:off x="6400800" y="352044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4F3DF5"/>
                </a:solidFill>
                <a:latin typeface="Georgia"/>
              </a:rPr>
              <a:t>A = £1477.46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38912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C4DFF"/>
                </a:solidFill>
                <a:latin typeface="Calibri"/>
              </a:rPr>
              <a:t>P = </a:t>
            </a:r>
            <a:r>
              <a:rPr sz="1300" b="0" i="0">
                <a:solidFill>
                  <a:srgbClr val="1D1A33"/>
                </a:solidFill>
                <a:latin typeface="Calibri"/>
              </a:rPr>
              <a:t>starting amount (u₁ idea)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  <a:r>
              <a:rPr sz="1300" b="1" i="0">
                <a:solidFill>
                  <a:srgbClr val="7C4DFF"/>
                </a:solidFill>
                <a:latin typeface="Calibri"/>
              </a:rPr>
              <a:t>i = </a:t>
            </a:r>
            <a:r>
              <a:rPr sz="1300" b="0" i="0">
                <a:solidFill>
                  <a:srgbClr val="1D1A33"/>
                </a:solidFill>
                <a:latin typeface="Calibri"/>
              </a:rPr>
              <a:t>interest rate as a decimal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  <a:r>
              <a:rPr sz="1300" b="1" i="0">
                <a:solidFill>
                  <a:srgbClr val="7C4DFF"/>
                </a:solidFill>
                <a:latin typeface="Calibri"/>
              </a:rPr>
              <a:t>n = </a:t>
            </a:r>
            <a:r>
              <a:rPr sz="1300" b="0" i="0">
                <a:solidFill>
                  <a:srgbClr val="1D1A33"/>
                </a:solidFill>
                <a:latin typeface="Calibri"/>
              </a:rPr>
              <a:t>number of years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28C7A"/>
                </a:solidFill>
                <a:latin typeface="Calibri"/>
              </a:rPr>
              <a:t>YOU DO ·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 · Lesson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in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108813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1088136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1088136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105156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A car worth £18 000 loses 15% of its value each year (it depreciates).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  <a:r>
              <a:rPr sz="1500" b="0" i="0">
                <a:solidFill>
                  <a:srgbClr val="1D1A33"/>
                </a:solidFill>
                <a:latin typeface="Calibri"/>
              </a:rPr>
              <a:t>(a) Write down the multiplier.   (b) Find its value after 4 years, to the nearest pound.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39"/>
            <a:ext cx="1088136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4105655"/>
            <a:ext cx="10552176" cy="16642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(a)  Loses 15% → keeps 85% → multiplier = 0.85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(b)  A = 18000 × (0.85)⁴ = 18000 × 0.52200… = £9396 (nearest £)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      Depreciation is a geometric sequence with r = 0.85 (r &lt; 1).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 · Lesson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29184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PAPER 2 STYLE · GDC ALLOWED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IB 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The third term of a geometric sequence is 20 and the sixth term is 160.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  <a:r>
              <a:rPr sz="1400" b="0" i="0">
                <a:solidFill>
                  <a:srgbClr val="D7D3F0"/>
                </a:solidFill>
                <a:latin typeface="Calibri"/>
              </a:rPr>
              <a:t>(a) Show that the common ratio r = 2.   [3]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3F0"/>
                </a:solidFill>
                <a:latin typeface="Calibri"/>
              </a:rPr>
              <a:t/>
            </a:r>
            <a:r>
              <a:rPr sz="1400" b="0" i="0">
                <a:solidFill>
                  <a:srgbClr val="D7D3F0"/>
                </a:solidFill>
                <a:latin typeface="Calibri"/>
              </a:rPr>
              <a:t>(b) Find the first term u₁.   [2]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3F0"/>
                </a:solidFill>
                <a:latin typeface="Calibri"/>
              </a:rPr>
              <a:t/>
            </a:r>
            <a:r>
              <a:rPr sz="1400" b="0" i="0">
                <a:solidFill>
                  <a:srgbClr val="D7D3F0"/>
                </a:solidFill>
                <a:latin typeface="Calibri"/>
              </a:rPr>
              <a:t>(c) Hence find the sum of the first 10 terms.   [3]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(a) r³ = 160 ÷ 20 = 8  (M1)(A1)  →  r = 2  (AG)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/>
            </a:r>
            <a:r>
              <a:rPr sz="1350" b="0" i="0">
                <a:solidFill>
                  <a:srgbClr val="1D1A33"/>
                </a:solidFill>
                <a:latin typeface="Calibri"/>
              </a:rPr>
              <a:t>(b) u₁(2²) = 20  (M1)  →  u₁ = 5  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/>
            </a:r>
            <a:r>
              <a:rPr sz="1350" b="0" i="0">
                <a:solidFill>
                  <a:srgbClr val="1D1A33"/>
                </a:solidFill>
                <a:latin typeface="Calibri"/>
              </a:rPr>
              <a:t>(c) S₁₀ = 5(2¹⁰ − 1)/(2 − 1)  (M1)(A1)  =  5115  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 · Lesson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Exponent   </a:t>
            </a:r>
            <a:r>
              <a:rPr sz="1350" b="0" i="0">
                <a:solidFill>
                  <a:srgbClr val="6E6A8A"/>
                </a:solidFill>
                <a:latin typeface="Calibri"/>
              </a:rPr>
              <a:t>Use (n−1), not n:  u₅ = u₁r⁴.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Wrong Sₙ form   </a:t>
            </a:r>
            <a:r>
              <a:rPr sz="1350" b="0" i="0">
                <a:solidFill>
                  <a:srgbClr val="6E6A8A"/>
                </a:solidFill>
                <a:latin typeface="Calibri"/>
              </a:rPr>
              <a:t>If r &lt; 1, use (1−rⁿ)/(1−r) to avoid sign errors.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Ratio direction   </a:t>
            </a:r>
            <a:r>
              <a:rPr sz="1350" b="0" i="0">
                <a:solidFill>
                  <a:srgbClr val="6E6A8A"/>
                </a:solidFill>
                <a:latin typeface="Calibri"/>
              </a:rPr>
              <a:t>r = later ÷ earlier, e.g. u₂ ÷ u₁ — not the other way.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Rounding early   </a:t>
            </a:r>
            <a:r>
              <a:rPr sz="1350" b="0" i="0">
                <a:solidFill>
                  <a:srgbClr val="6E6A8A"/>
                </a:solidFill>
                <a:latin typeface="Calibri"/>
              </a:rPr>
              <a:t>Keep exact values; round only the final answer (3 s.f.).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 · Lesson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474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Find the 9th term of  2, 6, 18, 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  <a:r>
              <a:rPr sz="1450" b="0" i="0">
                <a:solidFill>
                  <a:srgbClr val="1D1A33"/>
                </a:solidFill>
                <a:latin typeface="Calibri"/>
              </a:rPr>
              <a:t>2.  Find the sum of the first 6 terms of  5 + 10 + 20 + 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  <a:r>
              <a:rPr sz="1450" b="0" i="0">
                <a:solidFill>
                  <a:srgbClr val="1D1A33"/>
                </a:solidFill>
                <a:latin typeface="Calibri"/>
              </a:rPr>
              <a:t>3.  A GP has 2nd term 12 and 5th term 96. Find r and u₁.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  <a:r>
              <a:rPr sz="1450" b="0" i="0">
                <a:solidFill>
                  <a:srgbClr val="1D1A33"/>
                </a:solidFill>
                <a:latin typeface="Calibri"/>
              </a:rPr>
              <a:t>4.  £2000 invested at 4% per year. Find its value after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  <a:r>
              <a:rPr sz="1450" b="0" i="0">
                <a:solidFill>
                  <a:srgbClr val="1D1A33"/>
                </a:solidFill>
                <a:latin typeface="Calibri"/>
              </a:rPr>
              <a:t>      10 years.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2 × 3⁸ = 13 122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5(2⁶−1)/(2−1) = 315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r³ = 96/12 = 8 → r = 2;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      u₁ = 12/2 = 6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2000(1.04)¹⁰ = £2960.49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 · Lesson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9384" y="224028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r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sSub>
                        <m:e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u</m:t>
                          </m:r>
                        </m:e>
                        <m:sub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n</m:t>
                          </m:r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+</m:t>
                          </m:r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1</m:t>
                          </m:r>
                        </m:sub>
                      </m:sSub>
                    </m:num>
                    <m:den>
                      <m:sSub>
                        <m:e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u</m:t>
                          </m:r>
                        </m:e>
                        <m:sub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n</m:t>
                          </m:r>
                        </m:sub>
                      </m:sSub>
                    </m:den>
                  </m:f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148839" y="3108960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sSub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n</m:t>
                      </m:r>
                    </m:sub>
                  </m:sSub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sSub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</m:sub>
                  </m:sSub>
                  <m:r>
                    <a:rPr sz="2000">
                      <a:solidFill>
                        <a:srgbClr val="1D1A33"/>
                      </a:solidFill>
                    </a:rPr>
                    <m:t xml:space="preserve"> </m:t>
                  </m:r>
                  <m:sSup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r</m:t>
                      </m:r>
                    </m:e>
                    <m: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 </m:t>
                      </m:r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n</m:t>
                      </m:r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−</m:t>
                      </m:r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</m:sup>
                  </m:sSup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1709928" y="3840480"/>
            <a:ext cx="3072384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8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800">
                          <a:solidFill>
                            <a:srgbClr val="4F3DF5"/>
                          </a:solidFill>
                        </a:rPr>
                        <m:t xml:space="preserve">S</m:t>
                      </m:r>
                    </m:e>
                    <m:sub>
                      <m:r>
                        <a:rPr sz="28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b>
                  </m:sSub>
                  <m:r>
                    <a:rPr sz="28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sSub>
                        <m:e>
                          <m:r>
                            <a:rPr sz="2800">
                              <a:solidFill>
                                <a:srgbClr val="4F3DF5"/>
                              </a:solidFill>
                            </a:rPr>
                            <m:t xml:space="preserve">u</m:t>
                          </m:r>
                        </m:e>
                        <m:sub>
                          <m:r>
                            <a:rPr sz="2800">
                              <a:solidFill>
                                <a:srgbClr val="4F3DF5"/>
                              </a:solidFill>
                            </a:rPr>
                            <m:t xml:space="preserve">1</m:t>
                          </m:r>
                        </m:sub>
                      </m:sSub>
                      <m:r>
                        <a:rPr sz="2800">
                          <a:solidFill>
                            <a:srgbClr val="4F3DF5"/>
                          </a:solidFill>
                        </a:rPr>
                        <m:t xml:space="preserve">(</m:t>
                      </m:r>
                      <m:sSup>
                        <m:e>
                          <m:r>
                            <a:rPr sz="2800">
                              <a:solidFill>
                                <a:srgbClr val="4F3DF5"/>
                              </a:solidFill>
                            </a:rPr>
                            <m:t xml:space="preserve">r</m:t>
                          </m:r>
                        </m:e>
                        <m:sup>
                          <m:r>
                            <a:rPr sz="2800">
                              <a:solidFill>
                                <a:srgbClr val="4F3DF5"/>
                              </a:solidFill>
                            </a:rPr>
                            <m:t xml:space="preserve"> </m:t>
                          </m:r>
                          <m:r>
                            <a:rPr sz="2800">
                              <a:solidFill>
                                <a:srgbClr val="4F3DF5"/>
                              </a:solidFill>
                            </a:rPr>
                            <m:t xml:space="preserve">n</m:t>
                          </m:r>
                        </m:sup>
                      </m:sSup>
                      <m:r>
                        <a:rPr sz="28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8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  <m:r>
                        <a:rPr sz="28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</m:num>
                    <m:den>
                      <m:r>
                        <a:rPr sz="2800">
                          <a:solidFill>
                            <a:srgbClr val="4F3DF5"/>
                          </a:solidFill>
                        </a:rPr>
                        <m:t xml:space="preserve">r</m:t>
                      </m:r>
                      <m:r>
                        <a:rPr sz="28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8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den>
                  </m:f>
                </m:oMath>
              </m:oMathPara>
            </a14:m>
          </a:p>
        </p:txBody>
      </p:sp>
      <p:sp>
        <p:nvSpPr>
          <p:cNvPr id="15" name="TextBox 14"/>
          <p:cNvSpPr txBox="1"/>
          <p:nvPr/>
        </p:nvSpPr>
        <p:spPr>
          <a:xfrm>
            <a:off x="868680" y="48920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B8860B"/>
                </a:solidFill>
                <a:latin typeface="Calibri"/>
              </a:rPr>
              <a:t>Next lesson → </a:t>
            </a:r>
            <a:r>
              <a:rPr sz="1250" b="0" i="0">
                <a:solidFill>
                  <a:srgbClr val="6E6A8A"/>
                </a:solidFill>
                <a:latin typeface="Calibri"/>
              </a:rPr>
              <a:t>Sum to infinity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6622" y="5257800"/>
            <a:ext cx="2018995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1800">
                <a:solidFill>
                  <a:srgbClr val="00A896"/>
                </a:solidFill>
              </a:defRPr>
            </a:pPr>
            <a14:m>
              <m:oMathPara>
                <m:oMath>
                  <m:sSub>
                    <m:e>
                      <m:r>
                        <a:rPr sz="1800">
                          <a:solidFill>
                            <a:srgbClr val="00A896"/>
                          </a:solidFill>
                        </a:rPr>
                        <m:t xml:space="preserve">S</m:t>
                      </m:r>
                    </m:e>
                    <m:sub>
                      <m:r>
                        <a:rPr sz="1800">
                          <a:solidFill>
                            <a:srgbClr val="00A896"/>
                          </a:solidFill>
                        </a:rPr>
                        <m:t xml:space="preserve">∞</m:t>
                      </m:r>
                    </m:sub>
                  </m:sSub>
                  <m:r>
                    <a:rPr sz="1800">
                      <a:solidFill>
                        <a:srgbClr val="00A896"/>
                      </a:solidFill>
                    </a:rPr>
                    <m:t xml:space="preserve">=</m:t>
                  </m:r>
                  <m:f>
                    <m:num>
                      <m:sSub>
                        <m:e>
                          <m:r>
                            <a:rPr sz="1800">
                              <a:solidFill>
                                <a:srgbClr val="00A896"/>
                              </a:solidFill>
                            </a:rPr>
                            <m:t xml:space="preserve">u</m:t>
                          </m:r>
                        </m:e>
                        <m:sub>
                          <m:r>
                            <a:rPr sz="1800">
                              <a:solidFill>
                                <a:srgbClr val="00A896"/>
                              </a:solidFill>
                            </a:rPr>
                            <m:t xml:space="preserve">1</m:t>
                          </m:r>
                        </m:sub>
                      </m:sSub>
                    </m:num>
                    <m:den>
                      <m:r>
                        <a:rPr sz="1800">
                          <a:solidFill>
                            <a:srgbClr val="00A896"/>
                          </a:solidFill>
                        </a:rPr>
                        <m:t xml:space="preserve">1</m:t>
                      </m:r>
                      <m:r>
                        <a:rPr sz="1800">
                          <a:solidFill>
                            <a:srgbClr val="00A896"/>
                          </a:solidFill>
                        </a:rPr>
                        <m:t xml:space="preserve">−</m:t>
                      </m:r>
                      <m:r>
                        <a:rPr sz="1800">
                          <a:solidFill>
                            <a:srgbClr val="00A896"/>
                          </a:solidFill>
                        </a:rPr>
                        <m:t xml:space="preserve">r</m:t>
                      </m:r>
                    </m:den>
                  </m:f>
                  <m:r>
                    <a:rPr sz="18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18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1800">
                      <a:solidFill>
                        <a:srgbClr val="00A896"/>
                      </a:solidFill>
                    </a:rPr>
                    <m:t xml:space="preserve">(</m:t>
                  </m:r>
                  <m:r>
                    <a:rPr sz="1800">
                      <a:solidFill>
                        <a:srgbClr val="00A896"/>
                      </a:solidFill>
                    </a:rPr>
                    <m:t xml:space="preserve">|</m:t>
                  </m:r>
                  <m:r>
                    <a:rPr sz="1800">
                      <a:solidFill>
                        <a:srgbClr val="00A896"/>
                      </a:solidFill>
                    </a:rPr>
                    <m:t xml:space="preserve">r</m:t>
                  </m:r>
                  <m:r>
                    <a:rPr sz="1800">
                      <a:solidFill>
                        <a:srgbClr val="00A896"/>
                      </a:solidFill>
                    </a:rPr>
                    <m:t xml:space="preserve">|</m:t>
                  </m:r>
                  <m:r>
                    <a:rPr sz="1800">
                      <a:solidFill>
                        <a:srgbClr val="00A896"/>
                      </a:solidFill>
                    </a:rPr>
                    <m:t xml:space="preserve">&lt;</m:t>
                  </m:r>
                  <m:r>
                    <a:rPr sz="1800">
                      <a:solidFill>
                        <a:srgbClr val="00A896"/>
                      </a:solidFill>
                    </a:rPr>
                    <m:t xml:space="preserve">1</m:t>
                  </m:r>
                  <m:r>
                    <a:rPr sz="1800">
                      <a:solidFill>
                        <a:srgbClr val="00A896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7" name="Rounded Rectangle 16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148840"/>
            <a:ext cx="5029200" cy="2194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Find the 6th term of  4, 8, 16, 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  <a:r>
              <a:rPr sz="1400" b="0" i="0">
                <a:solidFill>
                  <a:srgbClr val="FFFFFF"/>
                </a:solidFill>
                <a:latin typeface="Calibri"/>
              </a:rPr>
              <a:t>2.  Find r for  90, 30, 10, 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  <a:r>
              <a:rPr sz="1400" b="0" i="0">
                <a:solidFill>
                  <a:srgbClr val="FFFFFF"/>
                </a:solidFill>
                <a:latin typeface="Calibri"/>
              </a:rPr>
              <a:t>3.  Sum the first 5 terms of  1 + 3 + 9 +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160520"/>
            <a:ext cx="507492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4288536"/>
            <a:ext cx="4745736" cy="129844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4 × 2⁵ = 128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r = 30/90 = 1/3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1(3⁵−1)/(3−1) = 121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68680" y="5897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  <a:r>
              <a:rPr sz="1100" b="0" i="0">
                <a:solidFill>
                  <a:srgbClr val="C9C5E6"/>
                </a:solidFill>
                <a:latin typeface="Calibri"/>
              </a:rPr>
              <a:t>  — rate each success criterion.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 · Lesson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  <a:r>
              <a:rPr sz="1400" b="0" i="0">
                <a:solidFill>
                  <a:srgbClr val="1D1A33"/>
                </a:solidFill>
                <a:latin typeface="Calibri"/>
              </a:rPr>
              <a:t>“Geometric sequences &amp; series”.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  <a:r>
              <a:rPr sz="1400" b="0" i="0">
                <a:solidFill>
                  <a:srgbClr val="1D1A33"/>
                </a:solidFill>
                <a:latin typeface="Calibri"/>
              </a:rPr>
              <a:t>•  Bring one question you found tricky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  <a:r>
              <a:rPr sz="1350" b="0" i="0">
                <a:solidFill>
                  <a:srgbClr val="6E6A8A"/>
                </a:solidFill>
                <a:latin typeface="Calibri"/>
              </a:rPr>
              <a:t>Sum to infinity &amp; applications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/>
            </a:r>
            <a:r>
              <a:rPr sz="1300" b="0" i="0">
                <a:solidFill>
                  <a:srgbClr val="1D1A33"/>
                </a:solidFill>
                <a:latin typeface="Calibri"/>
              </a:rPr>
              <a:t>When |r| &lt; 1 the terms shrink and the sum settles: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41605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00A896"/>
                </a:solidFill>
              </a:defRPr>
            </a:pPr>
            <a14:m>
              <m:oMathPara>
                <m:oMath>
                  <m:sSub>
                    <m:e>
                      <m:r>
                        <a:rPr sz="2400">
                          <a:solidFill>
                            <a:srgbClr val="00A896"/>
                          </a:solidFill>
                        </a:rPr>
                        <m:t xml:space="preserve">S</m:t>
                      </m:r>
                    </m:e>
                    <m:sub>
                      <m:r>
                        <a:rPr sz="2400">
                          <a:solidFill>
                            <a:srgbClr val="00A896"/>
                          </a:solidFill>
                        </a:rPr>
                        <m:t xml:space="preserve">∞</m:t>
                      </m:r>
                    </m:sub>
                  </m:sSub>
                  <m:r>
                    <a:rPr sz="2400">
                      <a:solidFill>
                        <a:srgbClr val="00A896"/>
                      </a:solidFill>
                    </a:rPr>
                    <m:t xml:space="preserve">=</m:t>
                  </m:r>
                  <m:f>
                    <m:num>
                      <m:sSub>
                        <m:e>
                          <m:r>
                            <a:rPr sz="2400">
                              <a:solidFill>
                                <a:srgbClr val="00A896"/>
                              </a:solidFill>
                            </a:rPr>
                            <m:t xml:space="preserve">u</m:t>
                          </m:r>
                        </m:e>
                        <m:sub>
                          <m:r>
                            <a:rPr sz="2400">
                              <a:solidFill>
                                <a:srgbClr val="00A896"/>
                              </a:solidFill>
                            </a:rPr>
                            <m:t xml:space="preserve">1</m:t>
                          </m:r>
                        </m:sub>
                      </m:sSub>
                    </m:num>
                    <m:den>
                      <m:r>
                        <a:rPr sz="2400">
                          <a:solidFill>
                            <a:srgbClr val="00A896"/>
                          </a:solidFill>
                        </a:rPr>
                        <m:t xml:space="preserve">1</m:t>
                      </m:r>
                      <m:r>
                        <a:rPr sz="2400">
                          <a:solidFill>
                            <a:srgbClr val="00A896"/>
                          </a:solidFill>
                        </a:rPr>
                        <m:t xml:space="preserve">−</m:t>
                      </m:r>
                      <m:r>
                        <a:rPr sz="2400">
                          <a:solidFill>
                            <a:srgbClr val="00A896"/>
                          </a:solidFill>
                        </a:rPr>
                        <m:t xml:space="preserve">r</m:t>
                      </m:r>
                    </m:den>
                  </m:f>
                </m:oMath>
              </m:oMathPara>
            </a14:m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6E6A8A"/>
                </a:solidFill>
                <a:latin typeface="Calibri"/>
              </a:rPr>
              <a:t>Great work today — you can now find any term and sum any finite geometric series.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