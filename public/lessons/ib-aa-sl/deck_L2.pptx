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-1554480"/>
            <a:ext cx="5212080" cy="5212080"/>
          </a:xfrm>
          <a:prstGeom prst="ellipse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3383280"/>
            <a:ext cx="3017520" cy="3017520"/>
          </a:xfrm>
          <a:prstGeom prst="ellipse">
            <a:avLst/>
          </a:prstGeom>
          <a:solidFill>
            <a:srgbClr val="24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74320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7C4DFF"/>
                </a:solidFill>
                <a:latin typeface="Georgia"/>
              </a:rPr>
              <a:t>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51560"/>
            <a:ext cx="4206240" cy="365760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IB MATH AA SL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0A896"/>
                </a:solidFill>
                <a:latin typeface="Calibri"/>
              </a:rPr>
              <a:t>Lesson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40280"/>
            <a:ext cx="859536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Arithmetic Sequences &amp; Series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9C5E6"/>
                </a:solidFill>
                <a:latin typeface="Calibri"/>
              </a:rPr>
              <a:t>Number &amp; Algebra  ·  60-minute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6A8A"/>
                </a:solidFill>
                <a:latin typeface="Calibri"/>
              </a:rPr>
              <a:t>Syllabus SL 1.2  ·  Property of Lynda Badmus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STARTER · DO NOW (5 MIN)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Do Now — 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858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 YOUR WHITEBOARD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Write the next two terms of  5, 8, 11, 14, 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What is being added each time?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In 20, 17, 14, … what is the common difference?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4406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6E6A8A"/>
                </a:solidFill>
                <a:latin typeface="Calibri"/>
              </a:rPr>
              <a:t>Recall: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1644" y="5577840"/>
            <a:ext cx="184343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17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17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1700">
                      <a:solidFill>
                        <a:srgbClr val="4F3DF5"/>
                      </a:solidFill>
                    </a:rPr>
                    <m:t xml:space="preserve">t</m:t>
                  </m:r>
                  <m:r>
                    <a:rPr sz="1700">
                      <a:solidFill>
                        <a:srgbClr val="4F3DF5"/>
                      </a:solidFill>
                    </a:rPr>
                    <m:t xml:space="preserve">e</m:t>
                  </m:r>
                  <m:r>
                    <a:rPr sz="1700">
                      <a:solidFill>
                        <a:srgbClr val="4F3DF5"/>
                      </a:solidFill>
                    </a:rPr>
                    <m:t xml:space="preserve">r</m:t>
                  </m:r>
                  <m:r>
                    <a:rPr sz="1700">
                      <a:solidFill>
                        <a:srgbClr val="4F3DF5"/>
                      </a:solidFill>
                    </a:rPr>
                    <m:t xml:space="preserve">m</m:t>
                  </m:r>
                  <m:r>
                    <a:rPr sz="1700">
                      <a:solidFill>
                        <a:srgbClr val="4F3DF5"/>
                      </a:solidFill>
                    </a:rPr>
                    <m:t xml:space="preserve">−</m:t>
                  </m:r>
                  <m:r>
                    <a:rPr sz="1700">
                      <a:solidFill>
                        <a:srgbClr val="4F3DF5"/>
                      </a:solidFill>
                    </a:rPr>
                    <m:t xml:space="preserve">t</m:t>
                  </m:r>
                  <m:r>
                    <a:rPr sz="1700">
                      <a:solidFill>
                        <a:srgbClr val="4F3DF5"/>
                      </a:solidFill>
                    </a:rPr>
                    <m:t xml:space="preserve">o</m:t>
                  </m:r>
                  <m:r>
                    <a:rPr sz="1700">
                      <a:solidFill>
                        <a:srgbClr val="4F3DF5"/>
                      </a:solidFill>
                    </a:rPr>
                    <m:t xml:space="preserve">−</m:t>
                  </m:r>
                  <m:r>
                    <a:rPr sz="1700">
                      <a:solidFill>
                        <a:srgbClr val="4F3DF5"/>
                      </a:solidFill>
                    </a:rPr>
                    <m:t xml:space="preserve">t</m:t>
                  </m:r>
                  <m:r>
                    <a:rPr sz="1700">
                      <a:solidFill>
                        <a:srgbClr val="4F3DF5"/>
                      </a:solidFill>
                    </a:rPr>
                    <m:t xml:space="preserve">e</m:t>
                  </m:r>
                  <m:r>
                    <a:rPr sz="1700">
                      <a:solidFill>
                        <a:srgbClr val="4F3DF5"/>
                      </a:solidFill>
                    </a:rPr>
                    <m:t xml:space="preserve">r</m:t>
                  </m:r>
                  <m:r>
                    <a:rPr sz="1700">
                      <a:solidFill>
                        <a:srgbClr val="4F3DF5"/>
                      </a:solidFill>
                    </a:rPr>
                    <m:t xml:space="preserve">m</m:t>
                  </m:r>
                  <m:r>
                    <a:rPr sz="1700">
                      <a:solidFill>
                        <a:srgbClr val="4F3DF5"/>
                      </a:solidFill>
                    </a:rPr>
                    <m:t xml:space="preserve">:</m:t>
                  </m:r>
                  <m:r>
                    <a:rPr sz="17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17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1700">
                      <a:solidFill>
                        <a:srgbClr val="4F3DF5"/>
                      </a:solidFill>
                    </a:rPr>
                    <m:t xml:space="preserve">d</m:t>
                  </m:r>
                  <m:r>
                    <a:rPr sz="1700">
                      <a:solidFill>
                        <a:srgbClr val="4F3DF5"/>
                      </a:solidFill>
                    </a:rPr>
                    <m:t xml:space="preserve">d</m:t>
                  </m:r>
                  <m:r>
                    <a:rPr sz="17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1700">
                      <a:solidFill>
                        <a:srgbClr val="4F3DF5"/>
                      </a:solidFill>
                    </a:rPr>
                    <m:t xml:space="preserve">t</m:t>
                  </m:r>
                  <m:r>
                    <a:rPr sz="1700">
                      <a:solidFill>
                        <a:srgbClr val="4F3DF5"/>
                      </a:solidFill>
                    </a:rPr>
                    <m:t xml:space="preserve">h</m:t>
                  </m:r>
                  <m:r>
                    <a:rPr sz="1700">
                      <a:solidFill>
                        <a:srgbClr val="4F3DF5"/>
                      </a:solidFill>
                    </a:rPr>
                    <m:t xml:space="preserve">e</m:t>
                  </m:r>
                  <m:r>
                    <a:rPr sz="17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1700">
                      <a:solidFill>
                        <a:srgbClr val="4F3DF5"/>
                      </a:solidFill>
                    </a:rPr>
                    <m:t xml:space="preserve">s</m:t>
                  </m:r>
                  <m:r>
                    <a:rPr sz="17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1700">
                      <a:solidFill>
                        <a:srgbClr val="4F3DF5"/>
                      </a:solidFill>
                    </a:rPr>
                    <m:t xml:space="preserve">m</m:t>
                  </m:r>
                  <m:r>
                    <a:rPr sz="1700">
                      <a:solidFill>
                        <a:srgbClr val="4F3DF5"/>
                      </a:solidFill>
                    </a:rPr>
                    <m:t xml:space="preserve">e</m:t>
                  </m:r>
                  <m:r>
                    <a:rPr sz="17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1700">
                      <a:solidFill>
                        <a:srgbClr val="4F3DF5"/>
                      </a:solidFill>
                    </a:rPr>
                    <m:t xml:space="preserve">n</m:t>
                  </m:r>
                  <m:r>
                    <a:rPr sz="1700">
                      <a:solidFill>
                        <a:srgbClr val="4F3DF5"/>
                      </a:solidFill>
                    </a:rPr>
                    <m:t xml:space="preserve">u</m:t>
                  </m:r>
                  <m:r>
                    <a:rPr sz="1700">
                      <a:solidFill>
                        <a:srgbClr val="4F3DF5"/>
                      </a:solidFill>
                    </a:rPr>
                    <m:t xml:space="preserve">m</m:t>
                  </m:r>
                  <m:r>
                    <a:rPr sz="1700">
                      <a:solidFill>
                        <a:srgbClr val="4F3DF5"/>
                      </a:solidFill>
                    </a:rPr>
                    <m:t xml:space="preserve">b</m:t>
                  </m:r>
                  <m:r>
                    <a:rPr sz="1700">
                      <a:solidFill>
                        <a:srgbClr val="4F3DF5"/>
                      </a:solidFill>
                    </a:rPr>
                    <m:t xml:space="preserve">e</m:t>
                  </m:r>
                  <m:r>
                    <a:rPr sz="1700">
                      <a:solidFill>
                        <a:srgbClr val="4F3DF5"/>
                      </a:solidFill>
                    </a:rPr>
                    <m:t xml:space="preserve">r</m:t>
                  </m:r>
                </m:oMath>
              </m:oMathPara>
            </a14:m>
          </a:p>
        </p:txBody>
      </p:sp>
      <p:sp>
        <p:nvSpPr>
          <p:cNvPr id="20" name="Rounded Rectangle 19"/>
          <p:cNvSpPr/>
          <p:nvPr/>
        </p:nvSpPr>
        <p:spPr>
          <a:xfrm>
            <a:off x="7726679" y="1691640"/>
            <a:ext cx="3794760" cy="4206240"/>
          </a:xfrm>
          <a:prstGeom prst="roundRect">
            <a:avLst/>
          </a:prstGeom>
          <a:solidFill>
            <a:srgbClr val="E6F7F3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91271" y="1819656"/>
            <a:ext cx="346557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1.  17, 20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+3 each time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d = −3 (it decreases)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LESSON 2 · WHAT &amp;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What we're learning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852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8521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8521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486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286000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49424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Recognise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an arithmetic sequence and find the common difference d.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127248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272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090672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Apply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uₙ = u₁ + (n−1)d to find any term.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968496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684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3192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Apply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Sₙ = n/2 (2u₁ + (n−1)d) to sum a series.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809744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097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Solve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problems where two pieces of information give u₁ and 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691640"/>
            <a:ext cx="4846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75120" y="1691640"/>
            <a:ext cx="484632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1901952"/>
            <a:ext cx="484632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1709928"/>
            <a:ext cx="448055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SUCCESS CRITERIA — I CAN…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331720"/>
            <a:ext cx="4389120" cy="3566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find d by subtracting consecutive terms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find any term with the nth-term formula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find the sum of the first n terms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set up and solve simultaneous equations for u₁ and 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1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The nth term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FORMULA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sSub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u</m:t>
                      </m:r>
                    </m:e>
                    <m:sub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</m:sub>
                  </m:sSub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sSub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u</m:t>
                      </m:r>
                    </m:e>
                    <m:sub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sub>
                  </m:sSub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+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n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−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1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d</m:t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u₁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first term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d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common difference = uₙ₊₁ − uₙ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n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term number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SPOTTING 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Subtract any term from the one after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2, 5, 8, 11 → d =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10, 7, 4 → d = −3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032504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Care: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d can be negative or a fraction.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Find a term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An arithmetic sequence has u₁ = 7 and d = 4.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Find the 10th term.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Step 1  u₁ = 7, d = 4, n =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72491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Step 2  substitute into the formula: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7999" y="3118104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1D1A33"/>
                </a:solidFill>
              </a:defRPr>
            </a:pPr>
            <a14:m>
              <m:oMathPara>
                <m:oMath>
                  <m:sSub>
                    <m:e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u</m:t>
                      </m:r>
                    </m:e>
                    <m:sub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1</m:t>
                      </m:r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0</m:t>
                      </m:r>
                    </m:sub>
                  </m:sSub>
                  <m:r>
                    <a:rPr sz="20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7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+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1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0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−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1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)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4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)</m:t>
                  </m:r>
                </m:oMath>
              </m:oMathPara>
            </a14:m>
          </a:p>
        </p:txBody>
      </p:sp>
      <p:sp>
        <p:nvSpPr>
          <p:cNvPr id="21" name="TextBox 20"/>
          <p:cNvSpPr txBox="1"/>
          <p:nvPr/>
        </p:nvSpPr>
        <p:spPr>
          <a:xfrm>
            <a:off x="4663440" y="4041648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Step 3  evaluate: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1" y="443484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sSub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u</m:t>
                      </m:r>
                    </m:e>
                    <m:sub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0</m:t>
                      </m:r>
                    </m:sub>
                  </m:sSub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7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+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3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6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4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3</m:t>
                  </m:r>
                </m:oMath>
              </m:oMathPara>
            </a14:m>
          </a:p>
        </p:txBody>
      </p:sp>
      <p:sp>
        <p:nvSpPr>
          <p:cNvPr id="23" name="TextBox 22"/>
          <p:cNvSpPr txBox="1"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A896"/>
                </a:solidFill>
                <a:latin typeface="Calibri"/>
              </a:rPr>
              <a:t>Tip: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6E6A8A"/>
                </a:solidFill>
                <a:latin typeface="Calibri"/>
              </a:rPr>
              <a:t>Write the formula and the substitution line first — that earns the method mark.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YOU DO ·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Your turn — nth term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766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7665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7665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008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 IN YOUR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Find the 8th term of  3, 7, 11, 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1810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An AP has u₁ = 20, d = −3. Find u₆.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1129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0448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Find d if  u₁ = 5 and u₄ = 23.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691640"/>
            <a:ext cx="3886200" cy="411480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1" y="1819656"/>
            <a:ext cx="3557016" cy="38587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3+7(4)=31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20+5(−3)=5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23=5+3d → d=6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2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The sum of n terms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SUM FORMULA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sSub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S</m:t>
                      </m:r>
                    </m:e>
                    <m:sub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</m:sub>
                  </m:sSub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den>
                  </m:f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2</m:t>
                  </m:r>
                  <m:sSub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u</m:t>
                      </m:r>
                    </m:e>
                    <m:sub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sub>
                  </m:sSub>
                  <m:r>
                    <a:rPr sz="2400">
                      <a:solidFill>
                        <a:srgbClr val="4F3DF5"/>
                      </a:solidFill>
                    </a:rPr>
                    <m:t xml:space="preserve">+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n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−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1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d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Use when you know u₁ and 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Also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Sₙ = n/2 (u₁ + uₙ) if you know the last term.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WHEN TO USE WHICH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Know u₁ and d → first form.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Know first and last term → second form.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Both give the same answer.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Sum a series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Find the sum of the first 10 terms of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7 + 11 + 15 +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Step 1  u₁ = 7, d = 4, n =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72491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Step 2  substitute: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1" y="3118104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1D1A33"/>
                </a:solidFill>
              </a:defRPr>
            </a:pPr>
            <a14:m>
              <m:oMathPara>
                <m:oMath>
                  <m:sSub>
                    <m:e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S</m:t>
                      </m:r>
                    </m:e>
                    <m:sub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1</m:t>
                      </m:r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0</m:t>
                      </m:r>
                    </m:sub>
                  </m:sSub>
                  <m:r>
                    <a:rPr sz="2200">
                      <a:solidFill>
                        <a:srgbClr val="1D1A33"/>
                      </a:solidFill>
                    </a:rPr>
                    <m:t xml:space="preserve">=</m:t>
                  </m:r>
                  <m:f>
                    <m:num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1</m:t>
                      </m:r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0</m:t>
                      </m:r>
                    </m:num>
                    <m:den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2</m:t>
                      </m:r>
                    </m:den>
                  </m:f>
                  <m:r>
                    <a:rPr sz="2200">
                      <a:solidFill>
                        <a:srgbClr val="1D1A33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2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7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+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1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0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−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1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4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)</m:t>
                  </m:r>
                </m:oMath>
              </m:oMathPara>
            </a14:m>
          </a:p>
        </p:txBody>
      </p:sp>
      <p:sp>
        <p:nvSpPr>
          <p:cNvPr id="21" name="TextBox 20"/>
          <p:cNvSpPr txBox="1"/>
          <p:nvPr/>
        </p:nvSpPr>
        <p:spPr>
          <a:xfrm>
            <a:off x="4663440" y="4128516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Step 3  evaluate: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1" y="4521708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sSub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S</m:t>
                      </m:r>
                    </m:e>
                    <m:sub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0</m:t>
                      </m:r>
                    </m:sub>
                  </m:sSub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5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1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4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+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3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6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2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5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0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YOU DO ·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Your turn — sums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766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7665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7665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008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 IN YOUR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Sum the first 12 terms of  2 + 5 + 8 + 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1810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An AP has u₁ = 50, d = −4. Find S₁₀.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1129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0448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Sum the first 20 terms of  1 + 3 + 5 + 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691640"/>
            <a:ext cx="3886200" cy="411480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1" y="1819656"/>
            <a:ext cx="3557016" cy="38587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12/2(2·2+11·3)=222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10/2(100+9·−4)=320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20/2(2+19·2)=400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3108960" cy="365760"/>
          </a:xfrm>
          <a:prstGeom prst="round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D1A33"/>
                </a:solidFill>
                <a:latin typeface="Calibri"/>
              </a:rPr>
              <a:t>EXAM-STYLE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Exam-style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214884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33272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An arithmetic sequence has third term 17 and seventh term 33.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(a) Find the common difference d.   [2]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(b) Find the first term u₁.   [2]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(c) Find the sum of the first 15 terms.   [3]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108813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33087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MARK SCHEME — reveal after students attempt  (tutor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1033272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(a) u₇−u₃ = 4d = 33−17 = 16  (M1) → d = 4  (A1)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(b) u₁ + 2(4) = 17  (M1) → u₁ = 9  (A1)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(c) S₁₅ = 15/2 (2·9 + 14·4)  (M1)(A1) = 615  (A1)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AVOID THESE IN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WATCH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Common mistakes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118872" cy="9601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8308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d, not the term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d is what you ADD, not the first term.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39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34639"/>
            <a:ext cx="118872" cy="96012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34639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7C4DFF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34639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(n−1), not n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uₙ = u₁ + (n−1)d — the multiplier is (n−1).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118872" cy="9601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0A896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8620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Sign of d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If the sequence decreases, d is negative.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937760"/>
            <a:ext cx="118872" cy="96012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4F3DF5"/>
                </a:solidFill>
                <a:latin typeface="Calibr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3776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Sum vs term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Sₙ adds terms; uₙ is a single term — don't mix the formulas.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CONSOLIDATE · MIXED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Mixed practice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949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94944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94944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5836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Find the 15th term of  4, 9, 14, 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An AP has u₁ = 100, d = −7. Find u₁₀.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Sum the first 25 terms of  3 + 7 + 11 + 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4515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4.  The 2nd term is 11 and the 5th is 26. Find u₁ and 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691640"/>
            <a:ext cx="3749039" cy="420624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1819656"/>
            <a:ext cx="341985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4+14·5 = 74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100+9·−7 = 37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25/2(6+24·4) = 1275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4.  3d=15→d=5; u₁=11−5=6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PLENARY · WHAT HAVE WE LEARNED?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Plenary &amp; exit ticket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2120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5212080" cy="4572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5212080" cy="2286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KEY FORMULAS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1" y="22402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sSub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u</m:t>
                      </m:r>
                    </m:e>
                    <m:sub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</m:sub>
                  </m:sSub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sSub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u</m:t>
                      </m:r>
                    </m:e>
                    <m:sub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sub>
                  </m:sSub>
                  <m:r>
                    <a:rPr sz="2200">
                      <a:solidFill>
                        <a:srgbClr val="4F3DF5"/>
                      </a:solidFill>
                    </a:rPr>
                    <m:t xml:space="preserve">+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n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−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1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d</m:t>
                  </m:r>
                </m:oMath>
              </m:oMathPara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2039111" y="31546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sSub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S</m:t>
                      </m:r>
                    </m:e>
                    <m:sub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</m:sub>
                  </m:sSub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</m:num>
                    <m:den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den>
                  </m:f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2</m:t>
                  </m:r>
                  <m:sSub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u</m:t>
                      </m:r>
                    </m:e>
                    <m:sub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sub>
                  </m:sSub>
                  <m:r>
                    <a:rPr sz="2200">
                      <a:solidFill>
                        <a:srgbClr val="4F3DF5"/>
                      </a:solidFill>
                    </a:rPr>
                    <m:t xml:space="preserve">+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n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−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1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d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)</m:t>
                  </m:r>
                </m:oMath>
              </m:oMathPara>
            </a14:m>
          </a:p>
        </p:txBody>
      </p:sp>
      <p:sp>
        <p:nvSpPr>
          <p:cNvPr id="14" name="Rounded Rectangle 13"/>
          <p:cNvSpPr/>
          <p:nvPr/>
        </p:nvSpPr>
        <p:spPr>
          <a:xfrm>
            <a:off x="6035040" y="1554480"/>
            <a:ext cx="5486400" cy="429768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91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705"/>
                </a:solidFill>
                <a:latin typeface="Calibri"/>
              </a:rPr>
              <a:t>EXIT TICKET — before you leave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4884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1.  Find the 6th term of  2, 9, 16, …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2.  Find d for  40, 34, 28, …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3.  Sum the first 10 terms of  5 + 8 + 11 + …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0749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4288536"/>
            <a:ext cx="4745736" cy="1344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2+5·7 = 37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d = −6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10/2(10+9·3) = 185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6868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7D3F0"/>
                </a:solidFill>
                <a:latin typeface="Calibri"/>
              </a:rPr>
              <a:t>Self-assess: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6B6B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need more help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2B705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nearly there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confident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HOMEWORK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Homework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6858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9339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0136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SET ON DR FROST MATHS (auto-marked)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Task: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Arithmetic sequences &amp; series.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Aim for 80%+ before the next lesson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Re-attempt any flagged questions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Bring one tricky question to discuss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783080"/>
            <a:ext cx="38404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0" y="1783080"/>
            <a:ext cx="384048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993392"/>
            <a:ext cx="384048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801368"/>
            <a:ext cx="347472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NEXT LESSON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3774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Lesson 3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Geometric sequences &amp; series — when each term is MULTIPLIED by a fixed ratio.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11480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00A896"/>
                </a:solidFill>
              </a:defRPr>
            </a:pPr>
            <a14:m>
              <m:oMathPara>
                <m:oMath>
                  <m:sSub>
                    <m:e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u</m:t>
                      </m:r>
                    </m:e>
                    <m:sub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n</m:t>
                      </m:r>
                    </m:sub>
                  </m:sSub>
                  <m:r>
                    <a:rPr sz="2200">
                      <a:solidFill>
                        <a:srgbClr val="00A896"/>
                      </a:solidFill>
                    </a:rPr>
                    <m:t xml:space="preserve">=</m:t>
                  </m:r>
                  <m:sSub>
                    <m:e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u</m:t>
                      </m:r>
                    </m:e>
                    <m:sub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1</m:t>
                      </m:r>
                    </m:sub>
                  </m:sSub>
                  <m:r>
                    <a:rPr sz="2200">
                      <a:solidFill>
                        <a:srgbClr val="00A896"/>
                      </a:solidFill>
                    </a:rPr>
                    <m:t xml:space="preserve"> </m:t>
                  </m:r>
                  <m:sSup>
                    <m:e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r</m:t>
                      </m:r>
                    </m:e>
                    <m:sup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 </m:t>
                      </m:r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n</m:t>
                      </m:r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−</m:t>
                      </m:r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1</m:t>
                      </m:r>
                    </m:sup>
                  </m:sSup>
                </m:oMath>
              </m:oMathPara>
            </a14:m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