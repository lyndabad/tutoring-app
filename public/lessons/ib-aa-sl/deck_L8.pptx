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7C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869680" y="-1554480"/>
            <a:ext cx="5212080" cy="5212080"/>
          </a:xfrm>
          <a:prstGeom prst="ellipse">
            <a:avLst/>
          </a:prstGeom>
          <a:solidFill>
            <a:srgbClr val="2A2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058400" y="3383280"/>
            <a:ext cx="3017520" cy="3017520"/>
          </a:xfrm>
          <a:prstGeom prst="ellipse">
            <a:avLst/>
          </a:prstGeom>
          <a:solidFill>
            <a:srgbClr val="242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640080"/>
            <a:ext cx="2743200" cy="2743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0" b="1" i="0">
                <a:solidFill>
                  <a:srgbClr val="7C4DFF"/>
                </a:solidFill>
                <a:latin typeface="Georgia"/>
              </a:rPr>
              <a:t>∑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051560"/>
            <a:ext cx="4206240" cy="365760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051560"/>
            <a:ext cx="4206240" cy="36576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IB MATH AA SL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783080"/>
            <a:ext cx="7315200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00A896"/>
                </a:solidFill>
                <a:latin typeface="Calibri"/>
              </a:rPr>
              <a:t>Lesson 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240280"/>
            <a:ext cx="8595360" cy="1554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4200" b="1" i="0">
                <a:solidFill>
                  <a:srgbClr val="FFFFFF"/>
                </a:solidFill>
                <a:latin typeface="Georgia"/>
              </a:rPr>
              <a:t>The Binomial Theorem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43484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C9C5E6"/>
                </a:solidFill>
                <a:latin typeface="Calibri"/>
              </a:rPr>
              <a:t>Number &amp; Algebra  ·  60-minute lesson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89204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E6A8A"/>
                </a:solidFill>
                <a:latin typeface="Calibri"/>
              </a:rPr>
              <a:t>Syllabus SL 1.9  ·  Property of Lynda Badmus Education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STARTER · DO NOW (5 MIN) · RETRIEVAL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RECALL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Do Now — recall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685800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685800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685800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649224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ON YOUR WHITEBOARD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286000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1.  Expand  (a + b)²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679192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072384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2.  Work out  4!  (factorial)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465576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858768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3.  Pascal's triangle: write row 4 (start 1, 4, …)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26679" y="1691640"/>
            <a:ext cx="3794760" cy="4206240"/>
          </a:xfrm>
          <a:prstGeom prst="roundRect">
            <a:avLst/>
          </a:prstGeom>
          <a:solidFill>
            <a:srgbClr val="E6F7F3"/>
          </a:solidFill>
          <a:ln w="15875">
            <a:solidFill>
              <a:srgbClr val="00A8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91271" y="1819656"/>
            <a:ext cx="3465576" cy="3950207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spcAft>
                <a:spcPts val="300"/>
              </a:spcAft>
            </a:pPr>
            <a:r>
              <a:rPr b="1" sz="1100">
                <a:solidFill>
                  <a:srgbClr val="00A896"/>
                </a:solidFill>
                <a:latin typeface="Calibri"/>
              </a:rPr>
              <a:t>Answers (click to reveal)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1.  a² + 2ab + b²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2.  24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3.  1, 4, 6, 4, 1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LESSON 8 · WHAT &amp; HOW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OBJECTIVES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What we're learning today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585216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585216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585216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548640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LEARNING OBJECTIVES</a:t>
            </a:r>
          </a:p>
        </p:txBody>
      </p:sp>
      <p:sp>
        <p:nvSpPr>
          <p:cNvPr id="13" name="Oval 12"/>
          <p:cNvSpPr/>
          <p:nvPr/>
        </p:nvSpPr>
        <p:spPr>
          <a:xfrm>
            <a:off x="868680" y="2286000"/>
            <a:ext cx="384048" cy="384048"/>
          </a:xfrm>
          <a:prstGeom prst="ellipse">
            <a:avLst/>
          </a:prstGeom>
          <a:solidFill>
            <a:srgbClr val="EF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228600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4F3DF5"/>
                </a:solidFill>
                <a:latin typeface="Georgia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249424"/>
            <a:ext cx="4937760" cy="86868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7C4DFF"/>
                </a:solidFill>
                <a:latin typeface="Calibri"/>
              </a:rPr>
              <a:t>Use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Pascal's triangle / binomial coefficients.</a:t>
            </a:r>
          </a:p>
        </p:txBody>
      </p:sp>
      <p:sp>
        <p:nvSpPr>
          <p:cNvPr id="16" name="Oval 15"/>
          <p:cNvSpPr/>
          <p:nvPr/>
        </p:nvSpPr>
        <p:spPr>
          <a:xfrm>
            <a:off x="868680" y="3127248"/>
            <a:ext cx="384048" cy="384048"/>
          </a:xfrm>
          <a:prstGeom prst="ellipse">
            <a:avLst/>
          </a:prstGeom>
          <a:solidFill>
            <a:srgbClr val="EF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127248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4F3DF5"/>
                </a:solidFill>
                <a:latin typeface="Georgia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090672"/>
            <a:ext cx="4937760" cy="86868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7C4DFF"/>
                </a:solidFill>
                <a:latin typeface="Calibri"/>
              </a:rPr>
              <a:t>Expand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(a + b)ⁿ for positive integer n.</a:t>
            </a:r>
          </a:p>
        </p:txBody>
      </p:sp>
      <p:sp>
        <p:nvSpPr>
          <p:cNvPr id="19" name="Oval 18"/>
          <p:cNvSpPr/>
          <p:nvPr/>
        </p:nvSpPr>
        <p:spPr>
          <a:xfrm>
            <a:off x="868680" y="3968496"/>
            <a:ext cx="384048" cy="384048"/>
          </a:xfrm>
          <a:prstGeom prst="ellipse">
            <a:avLst/>
          </a:prstGeom>
          <a:solidFill>
            <a:srgbClr val="EF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3968496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4F3DF5"/>
                </a:solidFill>
                <a:latin typeface="Georg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3931920"/>
            <a:ext cx="4937760" cy="86868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7C4DFF"/>
                </a:solidFill>
                <a:latin typeface="Calibri"/>
              </a:rPr>
              <a:t>Find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a specific term in an expansion.</a:t>
            </a:r>
          </a:p>
        </p:txBody>
      </p:sp>
      <p:sp>
        <p:nvSpPr>
          <p:cNvPr id="22" name="Oval 21"/>
          <p:cNvSpPr/>
          <p:nvPr/>
        </p:nvSpPr>
        <p:spPr>
          <a:xfrm>
            <a:off x="868680" y="4809744"/>
            <a:ext cx="384048" cy="384048"/>
          </a:xfrm>
          <a:prstGeom prst="ellipse">
            <a:avLst/>
          </a:prstGeom>
          <a:solidFill>
            <a:srgbClr val="EF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4809744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4F3DF5"/>
                </a:solidFill>
                <a:latin typeface="Georgia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4937760" cy="86868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7C4DFF"/>
                </a:solidFill>
                <a:latin typeface="Calibri"/>
              </a:rPr>
              <a:t>Apply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the nCr formula for the coefficients.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75120" y="1691640"/>
            <a:ext cx="484632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675120" y="1691640"/>
            <a:ext cx="4846320" cy="420624"/>
          </a:xfrm>
          <a:prstGeom prst="round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675120" y="1901952"/>
            <a:ext cx="4846320" cy="210312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0" y="1709928"/>
            <a:ext cx="4480559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SUCCESS CRITERIA — I CAN…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03720" y="2331720"/>
            <a:ext cx="4389120" cy="35661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0A896"/>
                </a:solidFill>
                <a:latin typeface="Calibri"/>
              </a:rPr>
              <a:t>✓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>write binomial coefficients using nCr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0A896"/>
                </a:solidFill>
                <a:latin typeface="Calibri"/>
              </a:rPr>
              <a:t>✓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>expand a bracket with the binomial theorem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0A896"/>
                </a:solidFill>
                <a:latin typeface="Calibri"/>
              </a:rPr>
              <a:t>✓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>pick out a particular term without full expansion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0A896"/>
                </a:solidFill>
                <a:latin typeface="Calibri"/>
              </a:rPr>
              <a:t>✓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>evaluate the coefficient of a given power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NEW LEARNING 1 · I DO (MODELLING)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The binomial theorem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548640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548640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548640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512064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THE FORMULA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66544" y="2331720"/>
            <a:ext cx="2633472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400">
                <a:solidFill>
                  <a:srgbClr val="4F3DF5"/>
                </a:solidFill>
              </a:defRPr>
            </a:pPr>
            <a14:m>
              <m:oMathPara>
                <m:oMath>
                  <m:r>
                    <a:rPr sz="2400">
                      <a:solidFill>
                        <a:srgbClr val="4F3DF5"/>
                      </a:solidFill>
                    </a:rPr>
                    <m:t xml:space="preserve">(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a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+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b</m:t>
                  </m:r>
                  <m:sSup>
                    <m:e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)</m:t>
                      </m:r>
                    </m:e>
                    <m:sup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n</m:t>
                      </m:r>
                    </m:sup>
                  </m:sSup>
                  <m:r>
                    <a:rPr sz="2400">
                      <a:solidFill>
                        <a:srgbClr val="4F3DF5"/>
                      </a:solidFill>
                    </a:rPr>
                    <m:t xml:space="preserve">=</m:t>
                  </m:r>
                  <m:sSup>
                    <m:e>
                      <m:sSub>
                        <m:e>
                          <m:r>
                            <a:rPr sz="2400">
                              <a:solidFill>
                                <a:srgbClr val="4F3DF5"/>
                              </a:solidFill>
                            </a:rPr>
                            <m:t xml:space="preserve">∑</m:t>
                          </m:r>
                        </m:e>
                        <m:sub>
                          <m:r>
                            <a:rPr sz="2400">
                              <a:solidFill>
                                <a:srgbClr val="4F3DF5"/>
                              </a:solidFill>
                            </a:rPr>
                            <m:t xml:space="preserve">r</m:t>
                          </m:r>
                          <m:r>
                            <a:rPr sz="2400">
                              <a:solidFill>
                                <a:srgbClr val="4F3DF5"/>
                              </a:solidFill>
                            </a:rPr>
                            <m:t xml:space="preserve">=</m:t>
                          </m:r>
                          <m:r>
                            <a:rPr sz="2400">
                              <a:solidFill>
                                <a:srgbClr val="4F3DF5"/>
                              </a:solidFill>
                            </a:rPr>
                            <m:t xml:space="preserve">0</m:t>
                          </m:r>
                        </m:sub>
                      </m:sSub>
                    </m:e>
                    <m:sup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n</m:t>
                      </m:r>
                    </m:sup>
                  </m:sSup>
                  <m:d>
                    <m:dPr>
                      <m:begChr m:val="("/>
                      <m:endChr m:val=")"/>
                    </m:dPr>
                    <m:e>
                      <m:f>
                        <m:fPr>
                          <m:type m:val="noBar"/>
                        </m:fPr>
                        <m:num>
                          <m:r>
                            <a:rPr sz="2400">
                              <a:solidFill>
                                <a:srgbClr val="4F3DF5"/>
                              </a:solidFill>
                            </a:rPr>
                            <m:t xml:space="preserve">n</m:t>
                          </m:r>
                        </m:num>
                        <m:den>
                          <m:r>
                            <a:rPr sz="2400">
                              <a:solidFill>
                                <a:srgbClr val="4F3DF5"/>
                              </a:solidFill>
                            </a:rPr>
                            <m:t xml:space="preserve">r</m:t>
                          </m:r>
                        </m:den>
                      </m:f>
                    </m:e>
                  </m:d>
                  <m:sSup>
                    <m:e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a</m:t>
                      </m:r>
                    </m:e>
                    <m:sup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 </m:t>
                      </m:r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n</m:t>
                      </m:r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−</m:t>
                      </m:r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r</m:t>
                      </m:r>
                    </m:sup>
                  </m:sSup>
                  <m:sSup>
                    <m:e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b</m:t>
                      </m:r>
                    </m:e>
                    <m:sup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 </m:t>
                      </m:r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r</m:t>
                      </m:r>
                    </m:sup>
                  </m:sSup>
                </m:oMath>
              </m:oMathPara>
            </a14:m>
          </a:p>
        </p:txBody>
      </p:sp>
      <p:sp>
        <p:nvSpPr>
          <p:cNvPr id="14" name="TextBox 13"/>
          <p:cNvSpPr txBox="1"/>
          <p:nvPr/>
        </p:nvSpPr>
        <p:spPr>
          <a:xfrm>
            <a:off x="868680" y="352044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7C4DFF"/>
                </a:solidFill>
                <a:latin typeface="Calibri"/>
              </a:rPr>
              <a:t>nCr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= n! / (r!(n−r)!), on your GDC too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02336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7C4DFF"/>
                </a:solidFill>
                <a:latin typeface="Calibri"/>
              </a:rPr>
              <a:t>Powers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a's power falls, b's power rises; they add to 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691640"/>
            <a:ext cx="512064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00800" y="1691640"/>
            <a:ext cx="5120640" cy="420624"/>
          </a:xfrm>
          <a:prstGeom prst="round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0" y="1901952"/>
            <a:ext cx="5120640" cy="210312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1709928"/>
            <a:ext cx="4754879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COEFFICIENTS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2331720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Row n of Pascal's triangle gives the nCr values.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2898648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D1A33"/>
                </a:solidFill>
                <a:latin typeface="Calibri"/>
              </a:rPr>
              <a:t>(n=4)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1, 4, 6, 4, 1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3465576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D1A33"/>
                </a:solidFill>
                <a:latin typeface="Calibri"/>
              </a:rPr>
              <a:t>GDC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use nCr for large 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I DO · 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Full expansion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356616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3566160" cy="420624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3566160" cy="210312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320040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QUESTION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286000"/>
            <a:ext cx="3200400" cy="32918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1D1A33"/>
                </a:solidFill>
                <a:latin typeface="Calibri"/>
              </a:rPr>
              <a:t>Expand  (1 + 2x)⁴.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4840" y="1691640"/>
            <a:ext cx="708660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434840" y="1691640"/>
            <a:ext cx="708660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34840" y="1901952"/>
            <a:ext cx="708660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1709928"/>
            <a:ext cx="672084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SOLUTION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2286000"/>
            <a:ext cx="658368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7C4DFF"/>
                </a:solidFill>
                <a:latin typeface="Calibri"/>
              </a:rPr>
              <a:t>Coefficients (row 4): 1, 4, 6, 4, 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2724912"/>
            <a:ext cx="658368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Apply with a = 1, b = 2x: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7999" y="3118104"/>
            <a:ext cx="219456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000">
                <a:solidFill>
                  <a:srgbClr val="1D1A33"/>
                </a:solidFill>
              </a:defRPr>
            </a:pPr>
            <a14:m>
              <m:oMathPara>
                <m:oMath>
                  <m:r>
                    <a:rPr sz="2000">
                      <a:solidFill>
                        <a:srgbClr val="1D1A33"/>
                      </a:solidFill>
                    </a:rPr>
                    <m:t xml:space="preserve">1</m:t>
                  </m:r>
                  <m:r>
                    <a:rPr sz="2000">
                      <a:solidFill>
                        <a:srgbClr val="1D1A33"/>
                      </a:solidFill>
                    </a:rPr>
                    <m:t xml:space="preserve">+</m:t>
                  </m:r>
                  <m:r>
                    <a:rPr sz="2000">
                      <a:solidFill>
                        <a:srgbClr val="1D1A33"/>
                      </a:solidFill>
                    </a:rPr>
                    <m:t xml:space="preserve">4</m:t>
                  </m:r>
                  <m:r>
                    <a:rPr sz="2000">
                      <a:solidFill>
                        <a:srgbClr val="1D1A33"/>
                      </a:solidFill>
                    </a:rPr>
                    <m:t xml:space="preserve">(</m:t>
                  </m:r>
                  <m:r>
                    <a:rPr sz="2000">
                      <a:solidFill>
                        <a:srgbClr val="1D1A33"/>
                      </a:solidFill>
                    </a:rPr>
                    <m:t xml:space="preserve">2</m:t>
                  </m:r>
                  <m:r>
                    <a:rPr sz="2000">
                      <a:solidFill>
                        <a:srgbClr val="1D1A33"/>
                      </a:solidFill>
                    </a:rPr>
                    <m:t xml:space="preserve">x</m:t>
                  </m:r>
                  <m:r>
                    <a:rPr sz="2000">
                      <a:solidFill>
                        <a:srgbClr val="1D1A33"/>
                      </a:solidFill>
                    </a:rPr>
                    <m:t xml:space="preserve">)</m:t>
                  </m:r>
                  <m:r>
                    <a:rPr sz="2000">
                      <a:solidFill>
                        <a:srgbClr val="1D1A33"/>
                      </a:solidFill>
                    </a:rPr>
                    <m:t xml:space="preserve">+</m:t>
                  </m:r>
                  <m:r>
                    <a:rPr sz="2000">
                      <a:solidFill>
                        <a:srgbClr val="1D1A33"/>
                      </a:solidFill>
                    </a:rPr>
                    <m:t xml:space="preserve">6</m:t>
                  </m:r>
                  <m:r>
                    <a:rPr sz="2000">
                      <a:solidFill>
                        <a:srgbClr val="1D1A33"/>
                      </a:solidFill>
                    </a:rPr>
                    <m:t xml:space="preserve">(</m:t>
                  </m:r>
                  <m:r>
                    <a:rPr sz="2000">
                      <a:solidFill>
                        <a:srgbClr val="1D1A33"/>
                      </a:solidFill>
                    </a:rPr>
                    <m:t xml:space="preserve">2</m:t>
                  </m:r>
                  <m:r>
                    <a:rPr sz="2000">
                      <a:solidFill>
                        <a:srgbClr val="1D1A33"/>
                      </a:solidFill>
                    </a:rPr>
                    <m:t xml:space="preserve">x</m:t>
                  </m:r>
                  <m:sSup>
                    <m:e>
                      <m:r>
                        <a:rPr sz="2000">
                          <a:solidFill>
                            <a:srgbClr val="1D1A33"/>
                          </a:solidFill>
                        </a:rPr>
                        <m:t xml:space="preserve">)</m:t>
                      </m:r>
                    </m:e>
                    <m:sup>
                      <m:r>
                        <a:rPr sz="2000">
                          <a:solidFill>
                            <a:srgbClr val="1D1A33"/>
                          </a:solidFill>
                        </a:rPr>
                        <m:t xml:space="preserve">2</m:t>
                      </m:r>
                    </m:sup>
                  </m:sSup>
                  <m:r>
                    <a:rPr sz="2000">
                      <a:solidFill>
                        <a:srgbClr val="1D1A33"/>
                      </a:solidFill>
                    </a:rPr>
                    <m:t xml:space="preserve">+</m:t>
                  </m:r>
                  <m:r>
                    <a:rPr sz="2000">
                      <a:solidFill>
                        <a:srgbClr val="1D1A33"/>
                      </a:solidFill>
                    </a:rPr>
                    <m:t xml:space="preserve">4</m:t>
                  </m:r>
                  <m:r>
                    <a:rPr sz="2000">
                      <a:solidFill>
                        <a:srgbClr val="1D1A33"/>
                      </a:solidFill>
                    </a:rPr>
                    <m:t xml:space="preserve">(</m:t>
                  </m:r>
                  <m:r>
                    <a:rPr sz="2000">
                      <a:solidFill>
                        <a:srgbClr val="1D1A33"/>
                      </a:solidFill>
                    </a:rPr>
                    <m:t xml:space="preserve">2</m:t>
                  </m:r>
                  <m:r>
                    <a:rPr sz="2000">
                      <a:solidFill>
                        <a:srgbClr val="1D1A33"/>
                      </a:solidFill>
                    </a:rPr>
                    <m:t xml:space="preserve">x</m:t>
                  </m:r>
                  <m:sSup>
                    <m:e>
                      <m:r>
                        <a:rPr sz="2000">
                          <a:solidFill>
                            <a:srgbClr val="1D1A33"/>
                          </a:solidFill>
                        </a:rPr>
                        <m:t xml:space="preserve">)</m:t>
                      </m:r>
                    </m:e>
                    <m:sup>
                      <m:r>
                        <a:rPr sz="2000">
                          <a:solidFill>
                            <a:srgbClr val="1D1A33"/>
                          </a:solidFill>
                        </a:rPr>
                        <m:t xml:space="preserve">3</m:t>
                      </m:r>
                    </m:sup>
                  </m:sSup>
                  <m:r>
                    <a:rPr sz="2000">
                      <a:solidFill>
                        <a:srgbClr val="1D1A33"/>
                      </a:solidFill>
                    </a:rPr>
                    <m:t xml:space="preserve">+</m:t>
                  </m:r>
                  <m:r>
                    <a:rPr sz="2000">
                      <a:solidFill>
                        <a:srgbClr val="1D1A33"/>
                      </a:solidFill>
                    </a:rPr>
                    <m:t xml:space="preserve">(</m:t>
                  </m:r>
                  <m:r>
                    <a:rPr sz="2000">
                      <a:solidFill>
                        <a:srgbClr val="1D1A33"/>
                      </a:solidFill>
                    </a:rPr>
                    <m:t xml:space="preserve">2</m:t>
                  </m:r>
                  <m:r>
                    <a:rPr sz="2000">
                      <a:solidFill>
                        <a:srgbClr val="1D1A33"/>
                      </a:solidFill>
                    </a:rPr>
                    <m:t xml:space="preserve">x</m:t>
                  </m:r>
                  <m:sSup>
                    <m:e>
                      <m:r>
                        <a:rPr sz="2000">
                          <a:solidFill>
                            <a:srgbClr val="1D1A33"/>
                          </a:solidFill>
                        </a:rPr>
                        <m:t xml:space="preserve">)</m:t>
                      </m:r>
                    </m:e>
                    <m:sup>
                      <m:r>
                        <a:rPr sz="2000">
                          <a:solidFill>
                            <a:srgbClr val="1D1A33"/>
                          </a:solidFill>
                        </a:rPr>
                        <m:t xml:space="preserve">4</m:t>
                      </m:r>
                    </m:sup>
                  </m:sSup>
                </m:oMath>
              </m:oMathPara>
            </a14:m>
          </a:p>
        </p:txBody>
      </p:sp>
      <p:sp>
        <p:nvSpPr>
          <p:cNvPr id="21" name="TextBox 20"/>
          <p:cNvSpPr txBox="1"/>
          <p:nvPr/>
        </p:nvSpPr>
        <p:spPr>
          <a:xfrm>
            <a:off x="4663440" y="4041648"/>
            <a:ext cx="658368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Simplify each term: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7999" y="4434840"/>
            <a:ext cx="219456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000">
                <a:solidFill>
                  <a:srgbClr val="4F3DF5"/>
                </a:solidFill>
              </a:defRPr>
            </a:pPr>
            <a14:m>
              <m:oMathPara>
                <m:oMath>
                  <m:r>
                    <a:rPr sz="2000">
                      <a:solidFill>
                        <a:srgbClr val="4F3DF5"/>
                      </a:solidFill>
                    </a:rPr>
                    <m:t xml:space="preserve">=</m:t>
                  </m:r>
                  <m:r>
                    <a:rPr sz="2000">
                      <a:solidFill>
                        <a:srgbClr val="4F3DF5"/>
                      </a:solidFill>
                    </a:rPr>
                    <m:t xml:space="preserve">1</m:t>
                  </m:r>
                  <m:r>
                    <a:rPr sz="2000">
                      <a:solidFill>
                        <a:srgbClr val="4F3DF5"/>
                      </a:solidFill>
                    </a:rPr>
                    <m:t xml:space="preserve">+</m:t>
                  </m:r>
                  <m:r>
                    <a:rPr sz="2000">
                      <a:solidFill>
                        <a:srgbClr val="4F3DF5"/>
                      </a:solidFill>
                    </a:rPr>
                    <m:t xml:space="preserve">8</m:t>
                  </m:r>
                  <m:r>
                    <a:rPr sz="2000">
                      <a:solidFill>
                        <a:srgbClr val="4F3DF5"/>
                      </a:solidFill>
                    </a:rPr>
                    <m:t xml:space="preserve">x</m:t>
                  </m:r>
                  <m:r>
                    <a:rPr sz="2000">
                      <a:solidFill>
                        <a:srgbClr val="4F3DF5"/>
                      </a:solidFill>
                    </a:rPr>
                    <m:t xml:space="preserve">+</m:t>
                  </m:r>
                  <m:r>
                    <a:rPr sz="2000">
                      <a:solidFill>
                        <a:srgbClr val="4F3DF5"/>
                      </a:solidFill>
                    </a:rPr>
                    <m:t xml:space="preserve">2</m:t>
                  </m:r>
                  <m:r>
                    <a:rPr sz="2000">
                      <a:solidFill>
                        <a:srgbClr val="4F3DF5"/>
                      </a:solidFill>
                    </a:rPr>
                    <m:t xml:space="preserve">4</m:t>
                  </m:r>
                  <m:sSup>
                    <m:e>
                      <m:r>
                        <a:rPr sz="2000">
                          <a:solidFill>
                            <a:srgbClr val="4F3DF5"/>
                          </a:solidFill>
                        </a:rPr>
                        <m:t xml:space="preserve">x</m:t>
                      </m:r>
                    </m:e>
                    <m:sup>
                      <m:r>
                        <a:rPr sz="2000">
                          <a:solidFill>
                            <a:srgbClr val="4F3DF5"/>
                          </a:solidFill>
                        </a:rPr>
                        <m:t xml:space="preserve">2</m:t>
                      </m:r>
                    </m:sup>
                  </m:sSup>
                  <m:r>
                    <a:rPr sz="2000">
                      <a:solidFill>
                        <a:srgbClr val="4F3DF5"/>
                      </a:solidFill>
                    </a:rPr>
                    <m:t xml:space="preserve">+</m:t>
                  </m:r>
                  <m:r>
                    <a:rPr sz="2000">
                      <a:solidFill>
                        <a:srgbClr val="4F3DF5"/>
                      </a:solidFill>
                    </a:rPr>
                    <m:t xml:space="preserve">3</m:t>
                  </m:r>
                  <m:r>
                    <a:rPr sz="2000">
                      <a:solidFill>
                        <a:srgbClr val="4F3DF5"/>
                      </a:solidFill>
                    </a:rPr>
                    <m:t xml:space="preserve">2</m:t>
                  </m:r>
                  <m:sSup>
                    <m:e>
                      <m:r>
                        <a:rPr sz="2000">
                          <a:solidFill>
                            <a:srgbClr val="4F3DF5"/>
                          </a:solidFill>
                        </a:rPr>
                        <m:t xml:space="preserve">x</m:t>
                      </m:r>
                    </m:e>
                    <m:sup>
                      <m:r>
                        <a:rPr sz="2000">
                          <a:solidFill>
                            <a:srgbClr val="4F3DF5"/>
                          </a:solidFill>
                        </a:rPr>
                        <m:t xml:space="preserve">3</m:t>
                      </m:r>
                    </m:sup>
                  </m:sSup>
                  <m:r>
                    <a:rPr sz="2000">
                      <a:solidFill>
                        <a:srgbClr val="4F3DF5"/>
                      </a:solidFill>
                    </a:rPr>
                    <m:t xml:space="preserve">+</m:t>
                  </m:r>
                  <m:r>
                    <a:rPr sz="2000">
                      <a:solidFill>
                        <a:srgbClr val="4F3DF5"/>
                      </a:solidFill>
                    </a:rPr>
                    <m:t xml:space="preserve">1</m:t>
                  </m:r>
                  <m:r>
                    <a:rPr sz="2000">
                      <a:solidFill>
                        <a:srgbClr val="4F3DF5"/>
                      </a:solidFill>
                    </a:rPr>
                    <m:t xml:space="preserve">6</m:t>
                  </m:r>
                  <m:sSup>
                    <m:e>
                      <m:r>
                        <a:rPr sz="2000">
                          <a:solidFill>
                            <a:srgbClr val="4F3DF5"/>
                          </a:solidFill>
                        </a:rPr>
                        <m:t xml:space="preserve">x</m:t>
                      </m:r>
                    </m:e>
                    <m:sup>
                      <m:r>
                        <a:rPr sz="2000">
                          <a:solidFill>
                            <a:srgbClr val="4F3DF5"/>
                          </a:solidFill>
                        </a:rPr>
                        <m:t xml:space="preserve">4</m:t>
                      </m:r>
                    </m:sup>
                  </m:sSup>
                </m:oMath>
              </m:oMathPara>
            </a14:m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4F3DF5"/>
                </a:solidFill>
                <a:latin typeface="Calibri"/>
              </a:rPr>
              <a:t>YOU DO · INDEPENDENT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YOU 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Your turn — expand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676656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676656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676656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640080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ANSWER IN YOUR BOOK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331720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1.  Expand  (1 + x)³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724912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118104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2.  Expand  (2 + x)³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511296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904488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3.  Write the coefficients for n = 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35240" y="1691640"/>
            <a:ext cx="3886200" cy="4114800"/>
          </a:xfrm>
          <a:prstGeom prst="roundRect">
            <a:avLst/>
          </a:prstGeom>
          <a:solidFill>
            <a:srgbClr val="EFEAFF"/>
          </a:solidFill>
          <a:ln w="15875">
            <a:solidFill>
              <a:srgbClr val="7C4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99831" y="1819656"/>
            <a:ext cx="3557016" cy="385876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spcAft>
                <a:spcPts val="300"/>
              </a:spcAft>
            </a:pPr>
            <a:r>
              <a:rPr b="1" sz="1100">
                <a:solidFill>
                  <a:srgbClr val="7C4DFF"/>
                </a:solidFill>
                <a:latin typeface="Calibri"/>
              </a:rPr>
              <a:t>Answers (click to reveal)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1.  1+3x+3x²+x³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2.  8+12x+6x²+x³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3.  1,5,10,10,5,1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NEW LEARNING 2 · I DO (MODELLING)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Finding one term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548640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548640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548640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512064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THE GENERAL TERM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66544" y="2331720"/>
            <a:ext cx="2633472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400">
                <a:solidFill>
                  <a:srgbClr val="4F3DF5"/>
                </a:solidFill>
              </a:defRPr>
            </a:pPr>
            <a14:m>
              <m:oMathPara>
                <m:oMath>
                  <m:sSub>
                    <m:e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T</m:t>
                      </m:r>
                    </m:e>
                    <m:sub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r</m:t>
                      </m:r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+</m:t>
                      </m:r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1</m:t>
                      </m:r>
                    </m:sub>
                  </m:sSub>
                  <m:r>
                    <a:rPr sz="2400">
                      <a:solidFill>
                        <a:srgbClr val="4F3DF5"/>
                      </a:solidFill>
                    </a:rPr>
                    <m:t xml:space="preserve">=</m:t>
                  </m:r>
                  <m:d>
                    <m:dPr>
                      <m:begChr m:val="("/>
                      <m:endChr m:val=")"/>
                    </m:dPr>
                    <m:e>
                      <m:f>
                        <m:fPr>
                          <m:type m:val="noBar"/>
                        </m:fPr>
                        <m:num>
                          <m:r>
                            <a:rPr sz="2400">
                              <a:solidFill>
                                <a:srgbClr val="4F3DF5"/>
                              </a:solidFill>
                            </a:rPr>
                            <m:t xml:space="preserve">n</m:t>
                          </m:r>
                        </m:num>
                        <m:den>
                          <m:r>
                            <a:rPr sz="2400">
                              <a:solidFill>
                                <a:srgbClr val="4F3DF5"/>
                              </a:solidFill>
                            </a:rPr>
                            <m:t xml:space="preserve">r</m:t>
                          </m:r>
                        </m:den>
                      </m:f>
                    </m:e>
                  </m:d>
                  <m:sSup>
                    <m:e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a</m:t>
                      </m:r>
                    </m:e>
                    <m:sup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 </m:t>
                      </m:r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n</m:t>
                      </m:r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−</m:t>
                      </m:r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r</m:t>
                      </m:r>
                    </m:sup>
                  </m:sSup>
                  <m:sSup>
                    <m:e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b</m:t>
                      </m:r>
                    </m:e>
                    <m:sup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 </m:t>
                      </m:r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r</m:t>
                      </m:r>
                    </m:sup>
                  </m:sSup>
                </m:oMath>
              </m:oMathPara>
            </a14:m>
          </a:p>
        </p:txBody>
      </p:sp>
      <p:sp>
        <p:nvSpPr>
          <p:cNvPr id="14" name="TextBox 13"/>
          <p:cNvSpPr txBox="1"/>
          <p:nvPr/>
        </p:nvSpPr>
        <p:spPr>
          <a:xfrm>
            <a:off x="868680" y="352044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7C4DFF"/>
                </a:solidFill>
                <a:latin typeface="Calibri"/>
              </a:rPr>
              <a:t>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Choose r so the power of x is the one you want.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02336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7C4DFF"/>
                </a:solidFill>
                <a:latin typeface="Calibri"/>
              </a:rPr>
              <a:t>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No need to expand the whole bracket.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691640"/>
            <a:ext cx="512064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00800" y="1691640"/>
            <a:ext cx="5120640" cy="420624"/>
          </a:xfrm>
          <a:prstGeom prst="round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0" y="1901952"/>
            <a:ext cx="5120640" cy="210312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1709928"/>
            <a:ext cx="4754879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STRATEGY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2331720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D1A33"/>
                </a:solidFill>
                <a:latin typeface="Calibri"/>
              </a:rPr>
              <a:t>1.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write the general term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2898648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D1A33"/>
                </a:solidFill>
                <a:latin typeface="Calibri"/>
              </a:rPr>
              <a:t>2.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set the power of x equal to the target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3465576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D1A33"/>
                </a:solidFill>
                <a:latin typeface="Calibri"/>
              </a:rPr>
              <a:t>3.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solve for r, then evaluate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I DO · 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A specific term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356616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3566160" cy="420624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3566160" cy="210312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320040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QUESTION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286000"/>
            <a:ext cx="3200400" cy="32918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1D1A33"/>
                </a:solidFill>
                <a:latin typeface="Calibri"/>
              </a:rPr>
              <a:t>Find the coefficient of  x²  in the expansion of  (1 + 2x)⁴.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4840" y="1691640"/>
            <a:ext cx="708660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434840" y="1691640"/>
            <a:ext cx="708660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34840" y="1901952"/>
            <a:ext cx="708660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1709928"/>
            <a:ext cx="672084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SOLUTION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2286000"/>
            <a:ext cx="658368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7C4DFF"/>
                </a:solidFill>
                <a:latin typeface="Calibri"/>
              </a:rPr>
              <a:t>General term: C(4,r)·1⁴⁻ʳ·(2x)ʳ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2679192"/>
            <a:ext cx="658368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For x²  we need r = 2: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7999" y="3072384"/>
            <a:ext cx="219456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000">
                <a:solidFill>
                  <a:srgbClr val="1D1A33"/>
                </a:solidFill>
              </a:defRPr>
            </a:pPr>
            <a14:m>
              <m:oMathPara>
                <m:oMath>
                  <m:d>
                    <m:dPr>
                      <m:begChr m:val="("/>
                      <m:endChr m:val=")"/>
                    </m:dPr>
                    <m:e>
                      <m:f>
                        <m:fPr>
                          <m:type m:val="noBar"/>
                        </m:fPr>
                        <m:num>
                          <m:r>
                            <a:rPr sz="2000">
                              <a:solidFill>
                                <a:srgbClr val="1D1A33"/>
                              </a:solidFill>
                            </a:rPr>
                            <m:t xml:space="preserve">4</m:t>
                          </m:r>
                        </m:num>
                        <m:den>
                          <m:r>
                            <a:rPr sz="2000">
                              <a:solidFill>
                                <a:srgbClr val="1D1A33"/>
                              </a:solidFill>
                            </a:rPr>
                            <m:t xml:space="preserve">2</m:t>
                          </m:r>
                        </m:den>
                      </m:f>
                    </m:e>
                  </m:d>
                  <m:r>
                    <a:rPr sz="2000">
                      <a:solidFill>
                        <a:srgbClr val="1D1A33"/>
                      </a:solidFill>
                    </a:rPr>
                    <m:t xml:space="preserve">(</m:t>
                  </m:r>
                  <m:r>
                    <a:rPr sz="2000">
                      <a:solidFill>
                        <a:srgbClr val="1D1A33"/>
                      </a:solidFill>
                    </a:rPr>
                    <m:t xml:space="preserve">2</m:t>
                  </m:r>
                  <m:r>
                    <a:rPr sz="2000">
                      <a:solidFill>
                        <a:srgbClr val="1D1A33"/>
                      </a:solidFill>
                    </a:rPr>
                    <m:t xml:space="preserve">x</m:t>
                  </m:r>
                  <m:sSup>
                    <m:e>
                      <m:r>
                        <a:rPr sz="2000">
                          <a:solidFill>
                            <a:srgbClr val="1D1A33"/>
                          </a:solidFill>
                        </a:rPr>
                        <m:t xml:space="preserve">)</m:t>
                      </m:r>
                    </m:e>
                    <m:sup>
                      <m:r>
                        <a:rPr sz="2000">
                          <a:solidFill>
                            <a:srgbClr val="1D1A33"/>
                          </a:solidFill>
                        </a:rPr>
                        <m:t xml:space="preserve">2</m:t>
                      </m:r>
                    </m:sup>
                  </m:sSup>
                  <m:r>
                    <a:rPr sz="2000">
                      <a:solidFill>
                        <a:srgbClr val="1D1A33"/>
                      </a:solidFill>
                    </a:rPr>
                    <m:t xml:space="preserve">=</m:t>
                  </m:r>
                  <m:r>
                    <a:rPr sz="2000">
                      <a:solidFill>
                        <a:srgbClr val="1D1A33"/>
                      </a:solidFill>
                    </a:rPr>
                    <m:t xml:space="preserve">6</m:t>
                  </m:r>
                  <m:r>
                    <a:rPr sz="2000">
                      <a:solidFill>
                        <a:srgbClr val="1D1A33"/>
                      </a:solidFill>
                    </a:rPr>
                    <m:t xml:space="preserve">×</m:t>
                  </m:r>
                  <m:r>
                    <a:rPr sz="2000">
                      <a:solidFill>
                        <a:srgbClr val="1D1A33"/>
                      </a:solidFill>
                    </a:rPr>
                    <m:t xml:space="preserve"> </m:t>
                  </m:r>
                  <m:r>
                    <a:rPr sz="2000">
                      <a:solidFill>
                        <a:srgbClr val="1D1A33"/>
                      </a:solidFill>
                    </a:rPr>
                    <m:t xml:space="preserve">4</m:t>
                  </m:r>
                  <m:sSup>
                    <m:e>
                      <m:r>
                        <a:rPr sz="2000">
                          <a:solidFill>
                            <a:srgbClr val="1D1A33"/>
                          </a:solidFill>
                        </a:rPr>
                        <m:t xml:space="preserve">x</m:t>
                      </m:r>
                    </m:e>
                    <m:sup>
                      <m:r>
                        <a:rPr sz="2000">
                          <a:solidFill>
                            <a:srgbClr val="1D1A33"/>
                          </a:solidFill>
                        </a:rPr>
                        <m:t xml:space="preserve">2</m:t>
                      </m:r>
                    </m:sup>
                  </m:sSup>
                </m:oMath>
              </m:oMathPara>
            </a14:m>
          </a:p>
        </p:txBody>
      </p:sp>
      <p:sp>
        <p:nvSpPr>
          <p:cNvPr id="21" name="TextBox 20"/>
          <p:cNvSpPr txBox="1"/>
          <p:nvPr/>
        </p:nvSpPr>
        <p:spPr>
          <a:xfrm>
            <a:off x="4663440" y="3995928"/>
            <a:ext cx="658368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So the coefficient is: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7999" y="4389120"/>
            <a:ext cx="219456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000">
                <a:solidFill>
                  <a:srgbClr val="4F3DF5"/>
                </a:solidFill>
              </a:defRPr>
            </a:pPr>
            <a14:m>
              <m:oMathPara>
                <m:oMath>
                  <m:r>
                    <a:rPr sz="2000">
                      <a:solidFill>
                        <a:srgbClr val="4F3DF5"/>
                      </a:solidFill>
                    </a:rPr>
                    <m:t xml:space="preserve">=</m:t>
                  </m:r>
                  <m:r>
                    <a:rPr sz="2000">
                      <a:solidFill>
                        <a:srgbClr val="4F3DF5"/>
                      </a:solidFill>
                    </a:rPr>
                    <m:t xml:space="preserve">2</m:t>
                  </m:r>
                  <m:r>
                    <a:rPr sz="2000">
                      <a:solidFill>
                        <a:srgbClr val="4F3DF5"/>
                      </a:solidFill>
                    </a:rPr>
                    <m:t xml:space="preserve">4</m:t>
                  </m:r>
                </m:oMath>
              </m:oMathPara>
            </a14:m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384048"/>
            <a:ext cx="3108960" cy="365760"/>
          </a:xfrm>
          <a:prstGeom prst="round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384048"/>
            <a:ext cx="3108960" cy="36576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1D1A33"/>
                </a:solidFill>
                <a:latin typeface="Calibri"/>
              </a:rPr>
              <a:t>EXAM-STYLE QUESTION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FFFFFF"/>
                </a:solidFill>
                <a:latin typeface="Georgia"/>
              </a:rPr>
              <a:t>Exam-style question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83080"/>
            <a:ext cx="10881360" cy="2148840"/>
          </a:xfrm>
          <a:prstGeom prst="roundRect">
            <a:avLst/>
          </a:prstGeom>
          <a:solidFill>
            <a:srgbClr val="2A2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20240"/>
            <a:ext cx="10332720" cy="1920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Consider the expansion of  (3 + x)⁵.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(a) Write down the number of terms.   [1]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(b) Find the term in  x².   [3]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023360"/>
            <a:ext cx="10881360" cy="187451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133087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MARK SCHEME — reveal after students attempt  (tutor only)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526280"/>
            <a:ext cx="10332720" cy="1325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>(a) 6 terms  (A1)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>(b) C(5,2)·3³·x² = 10·27·x²  (M1)(A1) = 270x²  (A1)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AVOID THESE IN THE EXAM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WATCH OUT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Common mistakes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83080"/>
            <a:ext cx="108813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783080"/>
            <a:ext cx="118872" cy="960120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783080"/>
            <a:ext cx="5486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FF6B6B"/>
                </a:solidFill>
                <a:latin typeface="Calibri"/>
              </a:rPr>
              <a:t>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1783080"/>
            <a:ext cx="9784080" cy="96012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D1A33"/>
                </a:solidFill>
                <a:latin typeface="Calibri"/>
              </a:rPr>
              <a:t>Index on the bracket 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6E6A8A"/>
                </a:solidFill>
                <a:latin typeface="Calibri"/>
              </a:rPr>
              <a:t>(2x)² = 4x², not 2x² — square everything in the bracket.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834639"/>
            <a:ext cx="108813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2834639"/>
            <a:ext cx="118872" cy="960120"/>
          </a:xfrm>
          <a:prstGeom prst="rect">
            <a:avLst/>
          </a:prstGeom>
          <a:solidFill>
            <a:srgbClr val="7C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834639"/>
            <a:ext cx="5486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7C4DFF"/>
                </a:solidFill>
                <a:latin typeface="Calibri"/>
              </a:rPr>
              <a:t>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2834639"/>
            <a:ext cx="9784080" cy="96012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D1A33"/>
                </a:solidFill>
                <a:latin typeface="Calibri"/>
              </a:rPr>
              <a:t>nCr order 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6E6A8A"/>
                </a:solidFill>
                <a:latin typeface="Calibri"/>
              </a:rPr>
              <a:t>C(n,r) uses r for the SECOND term's power.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86200"/>
            <a:ext cx="108813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3886200"/>
            <a:ext cx="118872" cy="960120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886200"/>
            <a:ext cx="5486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0A896"/>
                </a:solidFill>
                <a:latin typeface="Calibri"/>
              </a:rPr>
              <a:t>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3886200"/>
            <a:ext cx="9784080" cy="96012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D1A33"/>
                </a:solidFill>
                <a:latin typeface="Calibri"/>
              </a:rPr>
              <a:t>Counting terms 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6E6A8A"/>
                </a:solidFill>
                <a:latin typeface="Calibri"/>
              </a:rPr>
              <a:t>(a+b)ⁿ has n+1 terms, not 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937760"/>
            <a:ext cx="108813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4937760"/>
            <a:ext cx="118872" cy="96012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4937760"/>
            <a:ext cx="5486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4F3DF5"/>
                </a:solidFill>
                <a:latin typeface="Calibri"/>
              </a:rPr>
              <a:t>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4937760"/>
            <a:ext cx="9784080" cy="96012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D1A33"/>
                </a:solidFill>
                <a:latin typeface="Calibri"/>
              </a:rPr>
              <a:t>Forgetting coefficients 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6E6A8A"/>
                </a:solidFill>
                <a:latin typeface="Calibri"/>
              </a:rPr>
              <a:t>Don't drop the Pascal/nCr numbers.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4F3DF5"/>
                </a:solidFill>
                <a:latin typeface="Calibri"/>
              </a:rPr>
              <a:t>CONSOLIDATE · MIXED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YOU 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Mixed practice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694944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694944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694944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6583679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QUESTIONS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286000"/>
            <a:ext cx="6492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1.  Expand  (1 + x)⁴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679192"/>
            <a:ext cx="6492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072384"/>
            <a:ext cx="6492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2.  Find the coefficient of x³ in (1 + x)⁵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465576"/>
            <a:ext cx="6492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858768"/>
            <a:ext cx="6492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3.  Expand  (2 − x)³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251960"/>
            <a:ext cx="6492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645152"/>
            <a:ext cx="6492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4.  Find the term in x² of (1 + 3x)⁴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0" y="1691640"/>
            <a:ext cx="3749039" cy="4206240"/>
          </a:xfrm>
          <a:prstGeom prst="roundRect">
            <a:avLst/>
          </a:prstGeom>
          <a:solidFill>
            <a:srgbClr val="EFEAFF"/>
          </a:solidFill>
          <a:ln w="15875">
            <a:solidFill>
              <a:srgbClr val="7C4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36992" y="1819656"/>
            <a:ext cx="3419856" cy="3950207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spcAft>
                <a:spcPts val="300"/>
              </a:spcAft>
            </a:pPr>
            <a:r>
              <a:rPr b="1" sz="1100">
                <a:solidFill>
                  <a:srgbClr val="7C4DFF"/>
                </a:solidFill>
                <a:latin typeface="Calibri"/>
              </a:rPr>
              <a:t>Answers (click to reveal)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1.  1+4x+6x²+4x³+x⁴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2.  C(5,3)=10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3.  8−12x+6x²−x³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4.  C(4,2)·(3x)²=6·9x²=54x²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DD4BF"/>
                </a:solidFill>
                <a:latin typeface="Calibri"/>
              </a:rPr>
              <a:t>PLENARY · WHAT HAVE WE LEARNED?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03504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FFFFFF"/>
                </a:solidFill>
                <a:latin typeface="Georgia"/>
              </a:rPr>
              <a:t>Plenary &amp; exit ticket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54480"/>
            <a:ext cx="5212080" cy="42976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1554480"/>
            <a:ext cx="5212080" cy="457200"/>
          </a:xfrm>
          <a:prstGeom prst="round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783080"/>
            <a:ext cx="5212080" cy="228600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554480"/>
            <a:ext cx="4754880" cy="45720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KEY FORMULAS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39111" y="2240280"/>
            <a:ext cx="2414016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200">
                <a:solidFill>
                  <a:srgbClr val="4F3DF5"/>
                </a:solidFill>
              </a:defRPr>
            </a:pPr>
            <a14:m>
              <m:oMathPara>
                <m:oMath>
                  <m:r>
                    <a:rPr sz="2200">
                      <a:solidFill>
                        <a:srgbClr val="4F3DF5"/>
                      </a:solidFill>
                    </a:rPr>
                    <m:t xml:space="preserve">(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a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+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b</m:t>
                  </m:r>
                  <m:sSup>
                    <m:e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)</m:t>
                      </m:r>
                    </m:e>
                    <m:sup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n</m:t>
                      </m:r>
                    </m:sup>
                  </m:sSup>
                  <m:r>
                    <a:rPr sz="2200">
                      <a:solidFill>
                        <a:srgbClr val="4F3DF5"/>
                      </a:solidFill>
                    </a:rPr>
                    <m:t xml:space="preserve">=</m:t>
                  </m:r>
                  <m:sSup>
                    <m:e>
                      <m:sSub>
                        <m:e>
                          <m:r>
                            <a:rPr sz="2200">
                              <a:solidFill>
                                <a:srgbClr val="4F3DF5"/>
                              </a:solidFill>
                            </a:rPr>
                            <m:t xml:space="preserve">∑</m:t>
                          </m:r>
                        </m:e>
                        <m:sub>
                          <m:r>
                            <a:rPr sz="2200">
                              <a:solidFill>
                                <a:srgbClr val="4F3DF5"/>
                              </a:solidFill>
                            </a:rPr>
                            <m:t xml:space="preserve">r</m:t>
                          </m:r>
                          <m:r>
                            <a:rPr sz="2200">
                              <a:solidFill>
                                <a:srgbClr val="4F3DF5"/>
                              </a:solidFill>
                            </a:rPr>
                            <m:t xml:space="preserve">=</m:t>
                          </m:r>
                          <m:r>
                            <a:rPr sz="2200">
                              <a:solidFill>
                                <a:srgbClr val="4F3DF5"/>
                              </a:solidFill>
                            </a:rPr>
                            <m:t xml:space="preserve">0</m:t>
                          </m:r>
                        </m:sub>
                      </m:sSub>
                    </m:e>
                    <m:sup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n</m:t>
                      </m:r>
                    </m:sup>
                  </m:sSup>
                  <m:d>
                    <m:dPr>
                      <m:begChr m:val="("/>
                      <m:endChr m:val=")"/>
                    </m:dPr>
                    <m:e>
                      <m:f>
                        <m:fPr>
                          <m:type m:val="noBar"/>
                        </m:fPr>
                        <m:num>
                          <m:r>
                            <a:rPr sz="2200">
                              <a:solidFill>
                                <a:srgbClr val="4F3DF5"/>
                              </a:solidFill>
                            </a:rPr>
                            <m:t xml:space="preserve">n</m:t>
                          </m:r>
                        </m:num>
                        <m:den>
                          <m:r>
                            <a:rPr sz="2200">
                              <a:solidFill>
                                <a:srgbClr val="4F3DF5"/>
                              </a:solidFill>
                            </a:rPr>
                            <m:t xml:space="preserve">r</m:t>
                          </m:r>
                        </m:den>
                      </m:f>
                    </m:e>
                  </m:d>
                  <m:sSup>
                    <m:e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a</m:t>
                      </m:r>
                    </m:e>
                    <m:sup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 </m:t>
                      </m:r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n</m:t>
                      </m:r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−</m:t>
                      </m:r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r</m:t>
                      </m:r>
                    </m:sup>
                  </m:sSup>
                  <m:sSup>
                    <m:e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b</m:t>
                      </m:r>
                    </m:e>
                    <m:sup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 </m:t>
                      </m:r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r</m:t>
                      </m:r>
                    </m:sup>
                  </m:sSup>
                </m:oMath>
              </m:oMathPara>
            </a14:m>
          </a:p>
        </p:txBody>
      </p:sp>
      <p:sp>
        <p:nvSpPr>
          <p:cNvPr id="13" name="TextBox 12"/>
          <p:cNvSpPr txBox="1"/>
          <p:nvPr/>
        </p:nvSpPr>
        <p:spPr>
          <a:xfrm>
            <a:off x="2039111" y="3154680"/>
            <a:ext cx="2414016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200">
                <a:solidFill>
                  <a:srgbClr val="4F3DF5"/>
                </a:solidFill>
              </a:defRPr>
            </a:pPr>
            <a14:m>
              <m:oMathPara>
                <m:oMath>
                  <m:d>
                    <m:dPr>
                      <m:begChr m:val="("/>
                      <m:endChr m:val=")"/>
                    </m:dPr>
                    <m:e>
                      <m:f>
                        <m:fPr>
                          <m:type m:val="noBar"/>
                        </m:fPr>
                        <m:num>
                          <m:r>
                            <a:rPr sz="2200">
                              <a:solidFill>
                                <a:srgbClr val="4F3DF5"/>
                              </a:solidFill>
                            </a:rPr>
                            <m:t xml:space="preserve">n</m:t>
                          </m:r>
                        </m:num>
                        <m:den>
                          <m:r>
                            <a:rPr sz="2200">
                              <a:solidFill>
                                <a:srgbClr val="4F3DF5"/>
                              </a:solidFill>
                            </a:rPr>
                            <m:t xml:space="preserve">r</m:t>
                          </m:r>
                        </m:den>
                      </m:f>
                    </m:e>
                  </m:d>
                  <m:r>
                    <a:rPr sz="2200">
                      <a:solidFill>
                        <a:srgbClr val="4F3DF5"/>
                      </a:solidFill>
                    </a:rPr>
                    <m:t xml:space="preserve">=</m:t>
                  </m:r>
                  <m:f>
                    <m:num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n</m:t>
                      </m:r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!</m:t>
                      </m:r>
                    </m:num>
                    <m:den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r</m:t>
                      </m:r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!</m:t>
                      </m:r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(</m:t>
                      </m:r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n</m:t>
                      </m:r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−</m:t>
                      </m:r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r</m:t>
                      </m:r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)</m:t>
                      </m:r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!</m:t>
                      </m:r>
                    </m:den>
                  </m:f>
                </m:oMath>
              </m:oMathPara>
            </a14:m>
          </a:p>
        </p:txBody>
      </p:sp>
      <p:sp>
        <p:nvSpPr>
          <p:cNvPr id="14" name="Rounded Rectangle 13"/>
          <p:cNvSpPr/>
          <p:nvPr/>
        </p:nvSpPr>
        <p:spPr>
          <a:xfrm>
            <a:off x="6035040" y="1554480"/>
            <a:ext cx="5486400" cy="4297680"/>
          </a:xfrm>
          <a:prstGeom prst="roundRect">
            <a:avLst/>
          </a:prstGeom>
          <a:solidFill>
            <a:srgbClr val="2A2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169164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2B705"/>
                </a:solidFill>
                <a:latin typeface="Calibri"/>
              </a:rPr>
              <a:t>EXIT TICKET — before you leave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2148840"/>
            <a:ext cx="5029200" cy="2011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1.  Coefficients for n = 3?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2.  How many terms in (a+b)⁶?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3.  Coefficient of x² in (1+x)⁴?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4160520"/>
            <a:ext cx="5074920" cy="1600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0A8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1" y="4288536"/>
            <a:ext cx="4745736" cy="134416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spcAft>
                <a:spcPts val="300"/>
              </a:spcAft>
            </a:pPr>
            <a:r>
              <a:rPr b="1" sz="1100">
                <a:solidFill>
                  <a:srgbClr val="00A896"/>
                </a:solidFill>
                <a:latin typeface="Calibri"/>
              </a:rPr>
              <a:t>Answers (click to reveal)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1.  1, 3, 3, 1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2.  7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3.  6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868680" y="59436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7D3F0"/>
                </a:solidFill>
                <a:latin typeface="Calibri"/>
              </a:rPr>
              <a:t>Self-assess: 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6B6B"/>
                </a:solidFill>
                <a:latin typeface="Calibri"/>
              </a:rPr>
              <a:t>●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C9C5E6"/>
                </a:solidFill>
                <a:latin typeface="Calibri"/>
              </a:rPr>
              <a:t>need more help   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2B705"/>
                </a:solidFill>
                <a:latin typeface="Calibri"/>
              </a:rPr>
              <a:t>●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C9C5E6"/>
                </a:solidFill>
                <a:latin typeface="Calibri"/>
              </a:rPr>
              <a:t>nearly there   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0A896"/>
                </a:solidFill>
                <a:latin typeface="Calibri"/>
              </a:rPr>
              <a:t>●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C9C5E6"/>
                </a:solidFill>
                <a:latin typeface="Calibri"/>
              </a:rPr>
              <a:t>confident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HOMEWORK &amp;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Homework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83080"/>
            <a:ext cx="685800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1783080"/>
            <a:ext cx="685800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993392"/>
            <a:ext cx="685800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" y="1801368"/>
            <a:ext cx="649224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SET ON DR FROST MATHS (auto-marked)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77440"/>
            <a:ext cx="6400800" cy="23774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7C4DFF"/>
                </a:solidFill>
                <a:latin typeface="Calibri"/>
              </a:rPr>
              <a:t>Task: 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The binomial theorem.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•  Aim for 80%+ before the next lesson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•  Re-attempt any flagged questions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•  Bring one tricky question to discuss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80960" y="1783080"/>
            <a:ext cx="384048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680960" y="1783080"/>
            <a:ext cx="3840480" cy="420624"/>
          </a:xfrm>
          <a:prstGeom prst="round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680960" y="1993392"/>
            <a:ext cx="3840480" cy="210312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0" y="1801368"/>
            <a:ext cx="347472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NEXT LESSON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09560" y="2377440"/>
            <a:ext cx="3383280" cy="23774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D1A33"/>
                </a:solidFill>
                <a:latin typeface="Calibri"/>
              </a:rPr>
              <a:t>Lesson 9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6E6A8A"/>
                </a:solidFill>
                <a:latin typeface="Calibri"/>
              </a:rPr>
              <a:t>Proof &amp; deductive reasoning — writing a clear mathematical argument.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94192" y="4114800"/>
            <a:ext cx="2414016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200">
                <a:solidFill>
                  <a:srgbClr val="00A896"/>
                </a:solidFill>
              </a:defRPr>
            </a:pPr>
            <a14:m>
              <m:oMathPara>
                <m:oMath>
                  <m:r>
                    <a:rPr sz="2200">
                      <a:solidFill>
                        <a:srgbClr val="00A896"/>
                      </a:solidFill>
                    </a:rPr>
                    <m:t xml:space="preserve">2</m:t>
                  </m:r>
                  <m:r>
                    <a:rPr sz="2200">
                      <a:solidFill>
                        <a:srgbClr val="00A896"/>
                      </a:solidFill>
                    </a:rPr>
                    <m:t xml:space="preserve">n</m:t>
                  </m:r>
                  <m:r>
                    <a:rPr sz="2200">
                      <a:solidFill>
                        <a:srgbClr val="00A896"/>
                      </a:solidFill>
                    </a:rPr>
                    <m:t xml:space="preserve">+</m:t>
                  </m:r>
                  <m:r>
                    <a:rPr sz="2200">
                      <a:solidFill>
                        <a:srgbClr val="00A896"/>
                      </a:solidFill>
                    </a:rPr>
                    <m:t xml:space="preserve">1</m:t>
                  </m:r>
                  <m:r>
                    <a:rPr sz="2200">
                      <a:solidFill>
                        <a:srgbClr val="00A896"/>
                      </a:solidFill>
                    </a:rPr>
                    <m:t xml:space="preserve"> </m:t>
                  </m:r>
                  <m:r>
                    <a:rPr sz="2200">
                      <a:solidFill>
                        <a:srgbClr val="00A896"/>
                      </a:solidFill>
                    </a:rPr>
                    <m:t xml:space="preserve"/>
                  </m:r>
                  <m:r>
                    <a:rPr sz="2200">
                      <a:solidFill>
                        <a:srgbClr val="00A896"/>
                      </a:solidFill>
                    </a:rPr>
                    <m:t xml:space="preserve">i</m:t>
                  </m:r>
                  <m:r>
                    <a:rPr sz="2200">
                      <a:solidFill>
                        <a:srgbClr val="00A896"/>
                      </a:solidFill>
                    </a:rPr>
                    <m:t xml:space="preserve">s</m:t>
                  </m:r>
                  <m:r>
                    <a:rPr sz="2200">
                      <a:solidFill>
                        <a:srgbClr val="00A896"/>
                      </a:solidFill>
                    </a:rPr>
                    <m:t xml:space="preserve"> </m:t>
                  </m:r>
                  <m:r>
                    <a:rPr sz="2200">
                      <a:solidFill>
                        <a:srgbClr val="00A896"/>
                      </a:solidFill>
                    </a:rPr>
                    <m:t xml:space="preserve">o</m:t>
                  </m:r>
                  <m:r>
                    <a:rPr sz="2200">
                      <a:solidFill>
                        <a:srgbClr val="00A896"/>
                      </a:solidFill>
                    </a:rPr>
                    <m:t xml:space="preserve">d</m:t>
                  </m:r>
                  <m:r>
                    <a:rPr sz="2200">
                      <a:solidFill>
                        <a:srgbClr val="00A896"/>
                      </a:solidFill>
                    </a:rPr>
                    <m:t xml:space="preserve">d</m:t>
                  </m:r>
                </m:oMath>
              </m:oMathPara>
            </a14:m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