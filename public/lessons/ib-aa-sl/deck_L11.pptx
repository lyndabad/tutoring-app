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D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7C4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869680" y="-1554480"/>
            <a:ext cx="5212080" cy="5212080"/>
          </a:xfrm>
          <a:prstGeom prst="ellipse">
            <a:avLst/>
          </a:prstGeom>
          <a:solidFill>
            <a:srgbClr val="2A2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058400" y="3383280"/>
            <a:ext cx="3017520" cy="3017520"/>
          </a:xfrm>
          <a:prstGeom prst="ellipse">
            <a:avLst/>
          </a:prstGeom>
          <a:solidFill>
            <a:srgbClr val="242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640080"/>
            <a:ext cx="2743200" cy="2743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0" b="1" i="0">
                <a:solidFill>
                  <a:srgbClr val="7C4DFF"/>
                </a:solidFill>
                <a:latin typeface="Georgia"/>
              </a:rPr>
              <a:t>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051560"/>
            <a:ext cx="4206240" cy="365760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051560"/>
            <a:ext cx="4206240" cy="36576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IB MATH AA SL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783080"/>
            <a:ext cx="7315200" cy="502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00A896"/>
                </a:solidFill>
                <a:latin typeface="Calibri"/>
              </a:rPr>
              <a:t>Lesson 11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2240280"/>
            <a:ext cx="8595360" cy="1554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200"/>
              </a:spcAft>
            </a:pPr>
            <a:r>
              <a:rPr sz="4200" b="1" i="0">
                <a:solidFill>
                  <a:srgbClr val="FFFFFF"/>
                </a:solidFill>
                <a:latin typeface="Georgia"/>
              </a:rPr>
              <a:t>Function Notation, Domain &amp; Range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43484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C9C5E6"/>
                </a:solidFill>
                <a:latin typeface="Calibri"/>
              </a:rPr>
              <a:t>Functions  ·  60-minute lesson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89204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E6A8A"/>
                </a:solidFill>
                <a:latin typeface="Calibri"/>
              </a:rPr>
              <a:t>Syllabus SL 2.2  ·  Property of Lynda Badmus Education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4DFF"/>
                </a:solidFill>
                <a:latin typeface="Calibri"/>
              </a:rPr>
              <a:t>STARTER · DO NOW (5 MIN) · RETRIEVAL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74175" y="310896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E6A8A"/>
                </a:solidFill>
                <a:latin typeface="Calibri"/>
              </a:rPr>
              <a:t>RECALL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Do Now — recall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91640"/>
            <a:ext cx="685800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691640"/>
            <a:ext cx="6858000" cy="420624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901952"/>
            <a:ext cx="6858000" cy="210312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1709928"/>
            <a:ext cx="649224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ON YOUR WHITEBOARD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286000"/>
            <a:ext cx="640080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>1.  If f(x) = 2x + 1, find f(3).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2679192"/>
            <a:ext cx="640080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072384"/>
            <a:ext cx="640080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>2.  If g(x) = x², find g(−4).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465576"/>
            <a:ext cx="640080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858768"/>
            <a:ext cx="640080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>3.  What values of x can you NOT put into  1/x 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26679" y="1691640"/>
            <a:ext cx="3794760" cy="4206240"/>
          </a:xfrm>
          <a:prstGeom prst="roundRect">
            <a:avLst/>
          </a:prstGeom>
          <a:solidFill>
            <a:srgbClr val="E6F7F3"/>
          </a:solidFill>
          <a:ln w="15875">
            <a:solidFill>
              <a:srgbClr val="00A8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91271" y="1819656"/>
            <a:ext cx="3465576" cy="3950207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spcAft>
                <a:spcPts val="300"/>
              </a:spcAft>
            </a:pPr>
            <a:r>
              <a:rPr b="1" sz="1100">
                <a:solidFill>
                  <a:srgbClr val="00A896"/>
                </a:solidFill>
                <a:latin typeface="Calibri"/>
              </a:rPr>
              <a:t>Answers (click to reveal)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1.  f(3) = 7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2.  g(−4) = 16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3.  x = 0 (division by zero)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4DFF"/>
                </a:solidFill>
                <a:latin typeface="Calibri"/>
              </a:rPr>
              <a:t>LESSON 11 · WHAT &amp; HOW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74175" y="310896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E6A8A"/>
                </a:solidFill>
                <a:latin typeface="Calibri"/>
              </a:rPr>
              <a:t>OBJECTIVES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What we're learning today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91640"/>
            <a:ext cx="585216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691640"/>
            <a:ext cx="5852160" cy="420624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901952"/>
            <a:ext cx="5852160" cy="210312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1709928"/>
            <a:ext cx="548640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LEARNING OBJECTIVES</a:t>
            </a:r>
          </a:p>
        </p:txBody>
      </p:sp>
      <p:sp>
        <p:nvSpPr>
          <p:cNvPr id="13" name="Oval 12"/>
          <p:cNvSpPr/>
          <p:nvPr/>
        </p:nvSpPr>
        <p:spPr>
          <a:xfrm>
            <a:off x="868680" y="2286000"/>
            <a:ext cx="384048" cy="384048"/>
          </a:xfrm>
          <a:prstGeom prst="ellipse">
            <a:avLst/>
          </a:prstGeom>
          <a:solidFill>
            <a:srgbClr val="EFE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228600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4F3DF5"/>
                </a:solidFill>
                <a:latin typeface="Georgia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2249424"/>
            <a:ext cx="4937760" cy="86868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7C4DFF"/>
                </a:solidFill>
                <a:latin typeface="Calibri"/>
              </a:rPr>
              <a:t>Use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D1A33"/>
                </a:solidFill>
                <a:latin typeface="Calibri"/>
              </a:rPr>
              <a:t>function notation and evaluate f(x).</a:t>
            </a:r>
          </a:p>
        </p:txBody>
      </p:sp>
      <p:sp>
        <p:nvSpPr>
          <p:cNvPr id="16" name="Oval 15"/>
          <p:cNvSpPr/>
          <p:nvPr/>
        </p:nvSpPr>
        <p:spPr>
          <a:xfrm>
            <a:off x="868680" y="3127248"/>
            <a:ext cx="384048" cy="384048"/>
          </a:xfrm>
          <a:prstGeom prst="ellipse">
            <a:avLst/>
          </a:prstGeom>
          <a:solidFill>
            <a:srgbClr val="EFE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127248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4F3DF5"/>
                </a:solidFill>
                <a:latin typeface="Georgia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090672"/>
            <a:ext cx="4937760" cy="86868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7C4DFF"/>
                </a:solidFill>
                <a:latin typeface="Calibri"/>
              </a:rPr>
              <a:t>Define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D1A33"/>
                </a:solidFill>
                <a:latin typeface="Calibri"/>
              </a:rPr>
              <a:t>the domain (allowed inputs) of a function.</a:t>
            </a:r>
          </a:p>
        </p:txBody>
      </p:sp>
      <p:sp>
        <p:nvSpPr>
          <p:cNvPr id="19" name="Oval 18"/>
          <p:cNvSpPr/>
          <p:nvPr/>
        </p:nvSpPr>
        <p:spPr>
          <a:xfrm>
            <a:off x="868680" y="3968496"/>
            <a:ext cx="384048" cy="384048"/>
          </a:xfrm>
          <a:prstGeom prst="ellipse">
            <a:avLst/>
          </a:prstGeom>
          <a:solidFill>
            <a:srgbClr val="EFE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3968496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4F3DF5"/>
                </a:solidFill>
                <a:latin typeface="Georgia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3931920"/>
            <a:ext cx="4937760" cy="86868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7C4DFF"/>
                </a:solidFill>
                <a:latin typeface="Calibri"/>
              </a:rPr>
              <a:t>Define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D1A33"/>
                </a:solidFill>
                <a:latin typeface="Calibri"/>
              </a:rPr>
              <a:t>the range (possible outputs) of a function.</a:t>
            </a:r>
          </a:p>
        </p:txBody>
      </p:sp>
      <p:sp>
        <p:nvSpPr>
          <p:cNvPr id="22" name="Oval 21"/>
          <p:cNvSpPr/>
          <p:nvPr/>
        </p:nvSpPr>
        <p:spPr>
          <a:xfrm>
            <a:off x="868680" y="4809744"/>
            <a:ext cx="384048" cy="384048"/>
          </a:xfrm>
          <a:prstGeom prst="ellipse">
            <a:avLst/>
          </a:prstGeom>
          <a:solidFill>
            <a:srgbClr val="EFE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4809744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4F3DF5"/>
                </a:solidFill>
                <a:latin typeface="Georgia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4937760" cy="86868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7C4DFF"/>
                </a:solidFill>
                <a:latin typeface="Calibri"/>
              </a:rPr>
              <a:t>Identify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D1A33"/>
                </a:solidFill>
                <a:latin typeface="Calibri"/>
              </a:rPr>
              <a:t>values that must be excluded from a domain.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675120" y="1691640"/>
            <a:ext cx="484632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675120" y="1691640"/>
            <a:ext cx="4846320" cy="420624"/>
          </a:xfrm>
          <a:prstGeom prst="round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675120" y="1901952"/>
            <a:ext cx="4846320" cy="210312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0" y="1709928"/>
            <a:ext cx="4480559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SUCCESS CRITERIA — I CAN…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03720" y="2331720"/>
            <a:ext cx="4389120" cy="35661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00A896"/>
                </a:solidFill>
                <a:latin typeface="Calibri"/>
              </a:rPr>
              <a:t>✓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>substitute a value into f(x) correctly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00A896"/>
                </a:solidFill>
                <a:latin typeface="Calibri"/>
              </a:rPr>
              <a:t>✓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>state the domain of a function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00A896"/>
                </a:solidFill>
                <a:latin typeface="Calibri"/>
              </a:rPr>
              <a:t>✓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>state the range of a function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00A896"/>
                </a:solidFill>
                <a:latin typeface="Calibri"/>
              </a:rPr>
              <a:t>✓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>exclude values that make a function undefined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4DFF"/>
                </a:solidFill>
                <a:latin typeface="Calibri"/>
              </a:rPr>
              <a:t>NEW LEARNING 1 · I DO (MODELLING)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74175" y="310896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E6A8A"/>
                </a:solidFill>
                <a:latin typeface="Calibri"/>
              </a:rPr>
              <a:t>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Notation, domain &amp; range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91640"/>
            <a:ext cx="548640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691640"/>
            <a:ext cx="5486400" cy="420624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901952"/>
            <a:ext cx="5486400" cy="210312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1709928"/>
            <a:ext cx="512064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THE LANGUAGE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66544" y="2331720"/>
            <a:ext cx="2633472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 xmlns:a14="http://schemas.microsoft.com/office/drawing/2010/main" xmlns:m="http://schemas.openxmlformats.org/officeDocument/2006/math">
            <a:pPr algn="ctr">
              <a:defRPr sz="2400">
                <a:solidFill>
                  <a:srgbClr val="4F3DF5"/>
                </a:solidFill>
              </a:defRPr>
            </a:pPr>
            <a14:m>
              <m:oMathPara>
                <m:oMath>
                  <m:r>
                    <a:rPr sz="2400">
                      <a:solidFill>
                        <a:srgbClr val="4F3DF5"/>
                      </a:solidFill>
                    </a:rPr>
                    <m:t xml:space="preserve">f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(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x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)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/>
                  </m:r>
                  <m:r>
                    <a:rPr sz="2400">
                      <a:solidFill>
                        <a:srgbClr val="4F3DF5"/>
                      </a:solidFill>
                    </a:rPr>
                    <m:rPr>
                      <m:sty m:val="p"/>
                    </m:rPr>
                    <m:t xml:space="preserve">means the output for input 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x</m:t>
                  </m:r>
                </m:oMath>
              </m:oMathPara>
            </a14:m>
          </a:p>
        </p:txBody>
      </p:sp>
      <p:sp>
        <p:nvSpPr>
          <p:cNvPr id="14" name="TextBox 13"/>
          <p:cNvSpPr txBox="1"/>
          <p:nvPr/>
        </p:nvSpPr>
        <p:spPr>
          <a:xfrm>
            <a:off x="868680" y="352044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7C4DFF"/>
                </a:solidFill>
                <a:latin typeface="Calibri"/>
              </a:rPr>
              <a:t>Domain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the set of allowed inputs (x-values)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02336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7C4DFF"/>
                </a:solidFill>
                <a:latin typeface="Calibri"/>
              </a:rPr>
              <a:t>Range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the set of possible outputs (y-values)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52628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7C4DFF"/>
                </a:solidFill>
                <a:latin typeface="Calibri"/>
              </a:rPr>
              <a:t>Evaluate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replace every x with the given value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1691640"/>
            <a:ext cx="512064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400800" y="1691640"/>
            <a:ext cx="5120640" cy="420624"/>
          </a:xfrm>
          <a:prstGeom prst="round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0" y="1901952"/>
            <a:ext cx="5120640" cy="210312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0" y="1709928"/>
            <a:ext cx="4754879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PICTURE 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2331720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D1A33"/>
                </a:solidFill>
                <a:latin typeface="Calibri"/>
              </a:rPr>
              <a:t>Domain  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D1A33"/>
                </a:solidFill>
                <a:latin typeface="Calibri"/>
              </a:rPr>
              <a:t>read left–right (the x-axis)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2898648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D1A33"/>
                </a:solidFill>
                <a:latin typeface="Calibri"/>
              </a:rPr>
              <a:t>Range  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D1A33"/>
                </a:solidFill>
                <a:latin typeface="Calibri"/>
              </a:rPr>
              <a:t>read bottom–top (the y-axis)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3465576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D1A33"/>
                </a:solidFill>
                <a:latin typeface="Calibri"/>
              </a:rPr>
              <a:t>Map  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D1A33"/>
                </a:solidFill>
                <a:latin typeface="Calibri"/>
              </a:rPr>
              <a:t>each input gives exactly one output.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4DFF"/>
                </a:solidFill>
                <a:latin typeface="Calibri"/>
              </a:rPr>
              <a:t>I DO · WORKED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74175" y="310896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E6A8A"/>
                </a:solidFill>
                <a:latin typeface="Calibri"/>
              </a:rPr>
              <a:t>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Evaluate a function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91640"/>
            <a:ext cx="356616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691640"/>
            <a:ext cx="3566160" cy="420624"/>
          </a:xfrm>
          <a:prstGeom prst="round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901952"/>
            <a:ext cx="3566160" cy="210312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1709928"/>
            <a:ext cx="320040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QUESTION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286000"/>
            <a:ext cx="3200400" cy="32918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1D1A33"/>
                </a:solidFill>
                <a:latin typeface="Calibri"/>
              </a:rPr>
              <a:t>Given  f(x) = x² − 4x,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1D1A33"/>
                </a:solidFill>
                <a:latin typeface="Calibri"/>
              </a:rPr>
              <a:t>find f(5).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34840" y="1691640"/>
            <a:ext cx="708660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434840" y="1691640"/>
            <a:ext cx="7086600" cy="420624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34840" y="1901952"/>
            <a:ext cx="7086600" cy="210312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1709928"/>
            <a:ext cx="672084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SOLUTION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2286000"/>
            <a:ext cx="658368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7C4DFF"/>
                </a:solidFill>
                <a:latin typeface="Calibri"/>
              </a:rPr>
              <a:t>Step 1  replace every x with 5: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7999" y="2679192"/>
            <a:ext cx="219456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 xmlns:a14="http://schemas.microsoft.com/office/drawing/2010/main" xmlns:m="http://schemas.openxmlformats.org/officeDocument/2006/math">
            <a:pPr algn="ctr">
              <a:defRPr sz="2000">
                <a:solidFill>
                  <a:srgbClr val="1D1A33"/>
                </a:solidFill>
              </a:defRPr>
            </a:pPr>
            <a14:m>
              <m:oMathPara>
                <m:oMath>
                  <m:r>
                    <a:rPr sz="2000">
                      <a:solidFill>
                        <a:srgbClr val="1D1A33"/>
                      </a:solidFill>
                    </a:rPr>
                    <m:t xml:space="preserve">f</m:t>
                  </m:r>
                  <m:r>
                    <a:rPr sz="2000">
                      <a:solidFill>
                        <a:srgbClr val="1D1A33"/>
                      </a:solidFill>
                    </a:rPr>
                    <m:t xml:space="preserve">(</m:t>
                  </m:r>
                  <m:r>
                    <a:rPr sz="2000">
                      <a:solidFill>
                        <a:srgbClr val="1D1A33"/>
                      </a:solidFill>
                    </a:rPr>
                    <m:t xml:space="preserve">5</m:t>
                  </m:r>
                  <m:r>
                    <a:rPr sz="2000">
                      <a:solidFill>
                        <a:srgbClr val="1D1A33"/>
                      </a:solidFill>
                    </a:rPr>
                    <m:t xml:space="preserve">)</m:t>
                  </m:r>
                  <m:r>
                    <a:rPr sz="2000">
                      <a:solidFill>
                        <a:srgbClr val="1D1A33"/>
                      </a:solidFill>
                    </a:rPr>
                    <m:t xml:space="preserve">=</m:t>
                  </m:r>
                  <m:sSup>
                    <m:e>
                      <m:r>
                        <a:rPr sz="2000">
                          <a:solidFill>
                            <a:srgbClr val="1D1A33"/>
                          </a:solidFill>
                        </a:rPr>
                        <m:t xml:space="preserve">5</m:t>
                      </m:r>
                    </m:e>
                    <m:sup>
                      <m:r>
                        <a:rPr sz="2000">
                          <a:solidFill>
                            <a:srgbClr val="1D1A33"/>
                          </a:solidFill>
                        </a:rPr>
                        <m:t xml:space="preserve">2</m:t>
                      </m:r>
                    </m:sup>
                  </m:sSup>
                  <m:r>
                    <a:rPr sz="2000">
                      <a:solidFill>
                        <a:srgbClr val="1D1A33"/>
                      </a:solidFill>
                    </a:rPr>
                    <m:t xml:space="preserve">−</m:t>
                  </m:r>
                  <m:r>
                    <a:rPr sz="2000">
                      <a:solidFill>
                        <a:srgbClr val="1D1A33"/>
                      </a:solidFill>
                    </a:rPr>
                    <m:t xml:space="preserve">4</m:t>
                  </m:r>
                  <m:r>
                    <a:rPr sz="2000">
                      <a:solidFill>
                        <a:srgbClr val="1D1A33"/>
                      </a:solidFill>
                    </a:rPr>
                    <m:t xml:space="preserve">(</m:t>
                  </m:r>
                  <m:r>
                    <a:rPr sz="2000">
                      <a:solidFill>
                        <a:srgbClr val="1D1A33"/>
                      </a:solidFill>
                    </a:rPr>
                    <m:t xml:space="preserve">5</m:t>
                  </m:r>
                  <m:r>
                    <a:rPr sz="2000">
                      <a:solidFill>
                        <a:srgbClr val="1D1A33"/>
                      </a:solidFill>
                    </a:rPr>
                    <m:t xml:space="preserve">)</m:t>
                  </m:r>
                </m:oMath>
              </m:oMathPara>
            </a14:m>
          </a:p>
        </p:txBody>
      </p:sp>
      <p:sp>
        <p:nvSpPr>
          <p:cNvPr id="20" name="TextBox 19"/>
          <p:cNvSpPr txBox="1"/>
          <p:nvPr/>
        </p:nvSpPr>
        <p:spPr>
          <a:xfrm>
            <a:off x="4663440" y="3602736"/>
            <a:ext cx="658368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Step 2  evaluate: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48271" y="3995928"/>
            <a:ext cx="2414016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 xmlns:a14="http://schemas.microsoft.com/office/drawing/2010/main" xmlns:m="http://schemas.openxmlformats.org/officeDocument/2006/math">
            <a:pPr algn="ctr">
              <a:defRPr sz="2200">
                <a:solidFill>
                  <a:srgbClr val="4F3DF5"/>
                </a:solidFill>
              </a:defRPr>
            </a:pPr>
            <a14:m>
              <m:oMathPara>
                <m:oMath>
                  <m:r>
                    <a:rPr sz="2200">
                      <a:solidFill>
                        <a:srgbClr val="4F3DF5"/>
                      </a:solidFill>
                    </a:rPr>
                    <m:t xml:space="preserve">f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(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5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)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=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2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5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−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2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0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=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5</m:t>
                  </m:r>
                </m:oMath>
              </m:oMathPara>
            </a14:m>
          </a:p>
        </p:txBody>
      </p:sp>
      <p:sp>
        <p:nvSpPr>
          <p:cNvPr id="22" name="TextBox 21"/>
          <p:cNvSpPr txBox="1"/>
          <p:nvPr/>
        </p:nvSpPr>
        <p:spPr>
          <a:xfrm>
            <a:off x="640080" y="589788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00A896"/>
                </a:solidFill>
                <a:latin typeface="Calibri"/>
              </a:rPr>
              <a:t>Tip: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6E6A8A"/>
                </a:solidFill>
                <a:latin typeface="Calibri"/>
              </a:rPr>
              <a:t>Use brackets when you substitute — it prevents sign and order mistakes.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4F3DF5"/>
                </a:solidFill>
                <a:latin typeface="Calibri"/>
              </a:rPr>
              <a:t>YOU DO · INDEPENDENT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74175" y="310896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E6A8A"/>
                </a:solidFill>
                <a:latin typeface="Calibri"/>
              </a:rPr>
              <a:t>YOU 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Your turn — evaluate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91640"/>
            <a:ext cx="676656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691640"/>
            <a:ext cx="6766560" cy="420624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901952"/>
            <a:ext cx="6766560" cy="210312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1709928"/>
            <a:ext cx="640080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ANSWER IN YOUR BOOK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331720"/>
            <a:ext cx="640080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>1.  f(x) = 3x − 2, find f(4).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2724912"/>
            <a:ext cx="640080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118104"/>
            <a:ext cx="640080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>2.  g(x) = x² + 1, find g(−3).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511296"/>
            <a:ext cx="640080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904488"/>
            <a:ext cx="640080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>3.  h(x) = 10/x, find h(2).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35240" y="1691640"/>
            <a:ext cx="3886200" cy="4114800"/>
          </a:xfrm>
          <a:prstGeom prst="roundRect">
            <a:avLst/>
          </a:prstGeom>
          <a:solidFill>
            <a:srgbClr val="EFEAFF"/>
          </a:solidFill>
          <a:ln w="15875">
            <a:solidFill>
              <a:srgbClr val="7C4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99831" y="1819656"/>
            <a:ext cx="3557016" cy="385876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spcAft>
                <a:spcPts val="300"/>
              </a:spcAft>
            </a:pPr>
            <a:r>
              <a:rPr b="1" sz="1100">
                <a:solidFill>
                  <a:srgbClr val="7C4DFF"/>
                </a:solidFill>
                <a:latin typeface="Calibri"/>
              </a:rPr>
              <a:t>Answers (click to reveal)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1.  10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2.  10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3.  5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4DFF"/>
                </a:solidFill>
                <a:latin typeface="Calibri"/>
              </a:rPr>
              <a:t>NEW LEARNING 2 · I DO (MODELLING)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74175" y="310896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E6A8A"/>
                </a:solidFill>
                <a:latin typeface="Calibri"/>
              </a:rPr>
              <a:t>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Finding the domain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91640"/>
            <a:ext cx="548640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691640"/>
            <a:ext cx="5486400" cy="420624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901952"/>
            <a:ext cx="5486400" cy="210312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1709928"/>
            <a:ext cx="512064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WHAT TO EXCLUDE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66544" y="2331720"/>
            <a:ext cx="2633472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 xmlns:a14="http://schemas.microsoft.com/office/drawing/2010/main" xmlns:m="http://schemas.openxmlformats.org/officeDocument/2006/math">
            <a:pPr algn="ctr">
              <a:defRPr sz="2400">
                <a:solidFill>
                  <a:srgbClr val="4F3DF5"/>
                </a:solidFill>
              </a:defRPr>
            </a:pPr>
            <a14:m>
              <m:oMathPara>
                <m:oMath>
                  <m:r>
                    <a:rPr sz="2400">
                      <a:solidFill>
                        <a:srgbClr val="4F3DF5"/>
                      </a:solidFill>
                    </a:rPr>
                    <m:rPr>
                      <m:sty m:val="p"/>
                    </m:rPr>
                    <m:t xml:space="preserve">no </m:t>
                  </m:r>
                  <m:f>
                    <m:num>
                      <m:r>
                        <a:rPr sz="2400">
                          <a:solidFill>
                            <a:srgbClr val="4F3DF5"/>
                          </a:solidFill>
                        </a:rPr>
                        <m:t xml:space="preserve">1</m:t>
                      </m:r>
                    </m:num>
                    <m:den>
                      <m:r>
                        <a:rPr sz="2400">
                          <a:solidFill>
                            <a:srgbClr val="4F3DF5"/>
                          </a:solidFill>
                        </a:rPr>
                        <m:t xml:space="preserve">0</m:t>
                      </m:r>
                    </m:den>
                  </m:f>
                  <m:r>
                    <a:rPr sz="2400">
                      <a:solidFill>
                        <a:srgbClr val="4F3DF5"/>
                      </a:solidFill>
                    </a:rPr>
                    <m:t xml:space="preserve">,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   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 </m:t>
                  </m:r>
                  <m:r>
                    <a:rPr sz="2400">
                      <a:solidFill>
                        <a:srgbClr val="4F3DF5"/>
                      </a:solidFill>
                    </a:rPr>
                    <m:rPr>
                      <m:sty m:val="p"/>
                    </m:rPr>
                    <m:t xml:space="preserve">no </m:t>
                  </m:r>
                  <m:rad>
                    <m:radPr>
                      <m:degHide m:val="1"/>
                    </m:radPr>
                    <m:deg/>
                    <m:e>
                      <m:r>
                        <a:rPr sz="2400">
                          <a:solidFill>
                            <a:srgbClr val="4F3DF5"/>
                          </a:solidFill>
                        </a:rPr>
                        <m:rPr>
                          <m:sty m:val="p"/>
                        </m:rPr>
                        <m:t xml:space="preserve">negative</m:t>
                      </m:r>
                    </m:e>
                  </m:rad>
                </m:oMath>
              </m:oMathPara>
            </a14:m>
          </a:p>
        </p:txBody>
      </p:sp>
      <p:sp>
        <p:nvSpPr>
          <p:cNvPr id="14" name="TextBox 13"/>
          <p:cNvSpPr txBox="1"/>
          <p:nvPr/>
        </p:nvSpPr>
        <p:spPr>
          <a:xfrm>
            <a:off x="868680" y="352044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7C4DFF"/>
                </a:solidFill>
                <a:latin typeface="Calibri"/>
              </a:rPr>
              <a:t>Fractions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denominator ≠ 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02336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7C4DFF"/>
                </a:solidFill>
                <a:latin typeface="Calibri"/>
              </a:rPr>
              <a:t>Roots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what's under a √ must be ≥ 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52628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7C4DFF"/>
                </a:solidFill>
                <a:latin typeface="Calibri"/>
              </a:rPr>
              <a:t>Otherwise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domain is all real numbers, x ∈ ℝ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1691640"/>
            <a:ext cx="512064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400800" y="1691640"/>
            <a:ext cx="5120640" cy="420624"/>
          </a:xfrm>
          <a:prstGeom prst="round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0" y="1901952"/>
            <a:ext cx="5120640" cy="210312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0" y="1709928"/>
            <a:ext cx="4754879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EXAMPLES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2331720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D1A33"/>
                </a:solidFill>
                <a:latin typeface="Calibri"/>
              </a:rPr>
              <a:t>1/(x−3)  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D1A33"/>
                </a:solidFill>
                <a:latin typeface="Calibri"/>
              </a:rPr>
              <a:t>x ≠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2898648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D1A33"/>
                </a:solidFill>
                <a:latin typeface="Calibri"/>
              </a:rPr>
              <a:t>√(x−2)  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D1A33"/>
                </a:solidFill>
                <a:latin typeface="Calibri"/>
              </a:rPr>
              <a:t>x ≥ 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3465576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D1A33"/>
                </a:solidFill>
                <a:latin typeface="Calibri"/>
              </a:rPr>
              <a:t>x² + 1  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D1A33"/>
                </a:solidFill>
                <a:latin typeface="Calibri"/>
              </a:rPr>
              <a:t>all real x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4DFF"/>
                </a:solidFill>
                <a:latin typeface="Calibri"/>
              </a:rPr>
              <a:t>I DO · WORKED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74175" y="310896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E6A8A"/>
                </a:solidFill>
                <a:latin typeface="Calibri"/>
              </a:rPr>
              <a:t>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Find a domain &amp; range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91640"/>
            <a:ext cx="356616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691640"/>
            <a:ext cx="3566160" cy="420624"/>
          </a:xfrm>
          <a:prstGeom prst="round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901952"/>
            <a:ext cx="3566160" cy="210312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1709928"/>
            <a:ext cx="320040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QUESTION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286000"/>
            <a:ext cx="3200400" cy="32918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1D1A33"/>
                </a:solidFill>
                <a:latin typeface="Calibri"/>
              </a:rPr>
              <a:t>State the domain and range of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1D1A33"/>
                </a:solidFill>
                <a:latin typeface="Calibri"/>
              </a:rPr>
              <a:t>f(x) = √(x − 2).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34840" y="1691640"/>
            <a:ext cx="708660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434840" y="1691640"/>
            <a:ext cx="7086600" cy="420624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34840" y="1901952"/>
            <a:ext cx="7086600" cy="210312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1709928"/>
            <a:ext cx="672084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SOLUTION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2286000"/>
            <a:ext cx="658368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7C4DFF"/>
                </a:solidFill>
                <a:latin typeface="Calibri"/>
              </a:rPr>
              <a:t>Domain: the inside of the root must be ≥ 0: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7999" y="2679192"/>
            <a:ext cx="219456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 xmlns:a14="http://schemas.microsoft.com/office/drawing/2010/main" xmlns:m="http://schemas.openxmlformats.org/officeDocument/2006/math">
            <a:pPr algn="ctr">
              <a:defRPr sz="2000">
                <a:solidFill>
                  <a:srgbClr val="1D1A33"/>
                </a:solidFill>
              </a:defRPr>
            </a:pPr>
            <a14:m>
              <m:oMathPara>
                <m:oMath>
                  <m:r>
                    <a:rPr sz="2000">
                      <a:solidFill>
                        <a:srgbClr val="1D1A33"/>
                      </a:solidFill>
                    </a:rPr>
                    <m:t xml:space="preserve">x</m:t>
                  </m:r>
                  <m:r>
                    <a:rPr sz="2000">
                      <a:solidFill>
                        <a:srgbClr val="1D1A33"/>
                      </a:solidFill>
                    </a:rPr>
                    <m:t xml:space="preserve">−</m:t>
                  </m:r>
                  <m:r>
                    <a:rPr sz="2000">
                      <a:solidFill>
                        <a:srgbClr val="1D1A33"/>
                      </a:solidFill>
                    </a:rPr>
                    <m:t xml:space="preserve">2</m:t>
                  </m:r>
                  <m:r>
                    <a:rPr sz="2000">
                      <a:solidFill>
                        <a:srgbClr val="1D1A33"/>
                      </a:solidFill>
                    </a:rPr>
                    <m:t xml:space="preserve">≥</m:t>
                  </m:r>
                  <m:r>
                    <a:rPr sz="2000">
                      <a:solidFill>
                        <a:srgbClr val="1D1A33"/>
                      </a:solidFill>
                    </a:rPr>
                    <m:t xml:space="preserve"> </m:t>
                  </m:r>
                  <m:r>
                    <a:rPr sz="2000">
                      <a:solidFill>
                        <a:srgbClr val="1D1A33"/>
                      </a:solidFill>
                    </a:rPr>
                    <m:t xml:space="preserve">0</m:t>
                  </m:r>
                  <m:r>
                    <a:rPr sz="2000">
                      <a:solidFill>
                        <a:srgbClr val="1D1A33"/>
                      </a:solidFill>
                    </a:rPr>
                    <m:t xml:space="preserve"/>
                  </m:r>
                  <m:r>
                    <a:rPr sz="2000">
                      <a:solidFill>
                        <a:srgbClr val="1D1A33"/>
                      </a:solidFill>
                    </a:rPr>
                    <m:t xml:space="preserve">⇒</m:t>
                  </m:r>
                  <m:r>
                    <a:rPr sz="2000">
                      <a:solidFill>
                        <a:srgbClr val="1D1A33"/>
                      </a:solidFill>
                    </a:rPr>
                    <m:t xml:space="preserve"/>
                  </m:r>
                  <m:r>
                    <a:rPr sz="2000">
                      <a:solidFill>
                        <a:srgbClr val="1D1A33"/>
                      </a:solidFill>
                    </a:rPr>
                    <m:t xml:space="preserve"> </m:t>
                  </m:r>
                  <m:r>
                    <a:rPr sz="2000">
                      <a:solidFill>
                        <a:srgbClr val="1D1A33"/>
                      </a:solidFill>
                    </a:rPr>
                    <m:t xml:space="preserve">x</m:t>
                  </m:r>
                  <m:r>
                    <a:rPr sz="2000">
                      <a:solidFill>
                        <a:srgbClr val="1D1A33"/>
                      </a:solidFill>
                    </a:rPr>
                    <m:t xml:space="preserve">≥</m:t>
                  </m:r>
                  <m:r>
                    <a:rPr sz="2000">
                      <a:solidFill>
                        <a:srgbClr val="1D1A33"/>
                      </a:solidFill>
                    </a:rPr>
                    <m:t xml:space="preserve"> </m:t>
                  </m:r>
                  <m:r>
                    <a:rPr sz="2000">
                      <a:solidFill>
                        <a:srgbClr val="1D1A33"/>
                      </a:solidFill>
                    </a:rPr>
                    <m:t xml:space="preserve">2</m:t>
                  </m:r>
                </m:oMath>
              </m:oMathPara>
            </a14:m>
          </a:p>
        </p:txBody>
      </p:sp>
      <p:sp>
        <p:nvSpPr>
          <p:cNvPr id="20" name="TextBox 19"/>
          <p:cNvSpPr txBox="1"/>
          <p:nvPr/>
        </p:nvSpPr>
        <p:spPr>
          <a:xfrm>
            <a:off x="4663440" y="3602736"/>
            <a:ext cx="658368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Range: a square root gives values ≥ 0: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7999" y="3995928"/>
            <a:ext cx="219456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 xmlns:a14="http://schemas.microsoft.com/office/drawing/2010/main" xmlns:m="http://schemas.openxmlformats.org/officeDocument/2006/math">
            <a:pPr algn="ctr">
              <a:defRPr sz="2000">
                <a:solidFill>
                  <a:srgbClr val="4F3DF5"/>
                </a:solidFill>
              </a:defRPr>
            </a:pPr>
            <a14:m>
              <m:oMathPara>
                <m:oMath>
                  <m:r>
                    <a:rPr sz="2000">
                      <a:solidFill>
                        <a:srgbClr val="4F3DF5"/>
                      </a:solidFill>
                    </a:rPr>
                    <m:t xml:space="preserve">f</m:t>
                  </m:r>
                  <m:r>
                    <a:rPr sz="2000">
                      <a:solidFill>
                        <a:srgbClr val="4F3DF5"/>
                      </a:solidFill>
                    </a:rPr>
                    <m:t xml:space="preserve">(</m:t>
                  </m:r>
                  <m:r>
                    <a:rPr sz="2000">
                      <a:solidFill>
                        <a:srgbClr val="4F3DF5"/>
                      </a:solidFill>
                    </a:rPr>
                    <m:t xml:space="preserve">x</m:t>
                  </m:r>
                  <m:r>
                    <a:rPr sz="2000">
                      <a:solidFill>
                        <a:srgbClr val="4F3DF5"/>
                      </a:solidFill>
                    </a:rPr>
                    <m:t xml:space="preserve">)</m:t>
                  </m:r>
                  <m:r>
                    <a:rPr sz="2000">
                      <a:solidFill>
                        <a:srgbClr val="4F3DF5"/>
                      </a:solidFill>
                    </a:rPr>
                    <m:t xml:space="preserve">≥</m:t>
                  </m:r>
                  <m:r>
                    <a:rPr sz="2000">
                      <a:solidFill>
                        <a:srgbClr val="4F3DF5"/>
                      </a:solidFill>
                    </a:rPr>
                    <m:t xml:space="preserve"> </m:t>
                  </m:r>
                  <m:r>
                    <a:rPr sz="2000">
                      <a:solidFill>
                        <a:srgbClr val="4F3DF5"/>
                      </a:solidFill>
                    </a:rPr>
                    <m:t xml:space="preserve">0</m:t>
                  </m:r>
                </m:oMath>
              </m:oMathPara>
            </a14:m>
          </a:p>
        </p:txBody>
      </p:sp>
      <p:sp>
        <p:nvSpPr>
          <p:cNvPr id="22" name="TextBox 21"/>
          <p:cNvSpPr txBox="1"/>
          <p:nvPr/>
        </p:nvSpPr>
        <p:spPr>
          <a:xfrm>
            <a:off x="4663440" y="4919472"/>
            <a:ext cx="658368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1D1A33"/>
                </a:solidFill>
                <a:latin typeface="Calibri"/>
              </a:rPr>
              <a:t>So domain x ≥ 2, range f(x) ≥ 0.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D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384048"/>
            <a:ext cx="3108960" cy="365760"/>
          </a:xfrm>
          <a:prstGeom prst="round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384048"/>
            <a:ext cx="3108960" cy="36576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1D1A33"/>
                </a:solidFill>
                <a:latin typeface="Calibri"/>
              </a:rPr>
              <a:t>EXAM-STYLE QUESTION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FFFFFF"/>
                </a:solidFill>
                <a:latin typeface="Georgia"/>
              </a:rPr>
              <a:t>Exam-style question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783080"/>
            <a:ext cx="10881360" cy="2148840"/>
          </a:xfrm>
          <a:prstGeom prst="roundRect">
            <a:avLst/>
          </a:prstGeom>
          <a:solidFill>
            <a:srgbClr val="2A2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920240"/>
            <a:ext cx="10332720" cy="1920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The function f is given by  f(x) = 1/(x − 4).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(a) Write down the value of x that must be excluded from the domain.   [1]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(b) State the domain of f.   [2]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023360"/>
            <a:ext cx="10881360" cy="1874519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133087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4DFF"/>
                </a:solidFill>
                <a:latin typeface="Calibri"/>
              </a:rPr>
              <a:t>MARK SCHEME — reveal after students attempt  (tutor only)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526280"/>
            <a:ext cx="10332720" cy="1325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>(a) x = 4  (A1)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>(b) x ∈ ℝ, x ≠ 4  (A1)(A1)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4DFF"/>
                </a:solidFill>
                <a:latin typeface="Calibri"/>
              </a:rPr>
              <a:t>AVOID THESE IN THE EXAM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74175" y="310896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E6A8A"/>
                </a:solidFill>
                <a:latin typeface="Calibri"/>
              </a:rPr>
              <a:t>WATCH OUT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Common mistakes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783080"/>
            <a:ext cx="108813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783080"/>
            <a:ext cx="118872" cy="960120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783080"/>
            <a:ext cx="54864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FF6B6B"/>
                </a:solidFill>
                <a:latin typeface="Calibri"/>
              </a:rPr>
              <a:t>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1783080"/>
            <a:ext cx="9784080" cy="96012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D1A33"/>
                </a:solidFill>
                <a:latin typeface="Calibri"/>
              </a:rPr>
              <a:t>f(x) is not f × x   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6E6A8A"/>
                </a:solidFill>
                <a:latin typeface="Calibri"/>
              </a:rPr>
              <a:t>f(x) means 'the function applied to x', not multiplication.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834639"/>
            <a:ext cx="108813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2834639"/>
            <a:ext cx="118872" cy="960120"/>
          </a:xfrm>
          <a:prstGeom prst="rect">
            <a:avLst/>
          </a:prstGeom>
          <a:solidFill>
            <a:srgbClr val="7C4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2834639"/>
            <a:ext cx="54864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7C4DFF"/>
                </a:solidFill>
                <a:latin typeface="Calibri"/>
              </a:rPr>
              <a:t>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2834639"/>
            <a:ext cx="9784080" cy="96012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D1A33"/>
                </a:solidFill>
                <a:latin typeface="Calibri"/>
              </a:rPr>
              <a:t>Brackets when substituting   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6E6A8A"/>
                </a:solidFill>
                <a:latin typeface="Calibri"/>
              </a:rPr>
              <a:t>f(−2) with x² is (−2)² = 4, not −4.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86200"/>
            <a:ext cx="108813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3886200"/>
            <a:ext cx="118872" cy="960120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3886200"/>
            <a:ext cx="54864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00A896"/>
                </a:solidFill>
                <a:latin typeface="Calibri"/>
              </a:rPr>
              <a:t>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3886200"/>
            <a:ext cx="9784080" cy="96012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D1A33"/>
                </a:solidFill>
                <a:latin typeface="Calibri"/>
              </a:rPr>
              <a:t>Domain vs range   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6E6A8A"/>
                </a:solidFill>
                <a:latin typeface="Calibri"/>
              </a:rPr>
              <a:t>Domain = inputs (x); range = outputs (y).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937760"/>
            <a:ext cx="108813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" y="4937760"/>
            <a:ext cx="118872" cy="96012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4937760"/>
            <a:ext cx="54864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4F3DF5"/>
                </a:solidFill>
                <a:latin typeface="Calibri"/>
              </a:rPr>
              <a:t>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8760" y="4937760"/>
            <a:ext cx="9784080" cy="96012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D1A33"/>
                </a:solidFill>
                <a:latin typeface="Calibri"/>
              </a:rPr>
              <a:t>Excluded values   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6E6A8A"/>
                </a:solidFill>
                <a:latin typeface="Calibri"/>
              </a:rPr>
              <a:t>Always check for division by zero and roots of negatives.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4F3DF5"/>
                </a:solidFill>
                <a:latin typeface="Calibri"/>
              </a:rPr>
              <a:t>CONSOLIDATE · MIXED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74175" y="310896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E6A8A"/>
                </a:solidFill>
                <a:latin typeface="Calibri"/>
              </a:rPr>
              <a:t>YOU 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Mixed practice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91640"/>
            <a:ext cx="694944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691640"/>
            <a:ext cx="6949440" cy="420624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901952"/>
            <a:ext cx="6949440" cy="210312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1709928"/>
            <a:ext cx="6583679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QUESTIONS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286000"/>
            <a:ext cx="649224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>1.  f(x) = 2x² − 1, find f(3).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2679192"/>
            <a:ext cx="649224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072384"/>
            <a:ext cx="649224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>2.  State the domain of  1/(x + 5).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465576"/>
            <a:ext cx="649224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858768"/>
            <a:ext cx="649224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>3.  State the domain of  √(x − 7).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4251960"/>
            <a:ext cx="649224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645152"/>
            <a:ext cx="649224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>4.  g(x) = 5 − x, find g(−2).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0" y="1691640"/>
            <a:ext cx="3749039" cy="4206240"/>
          </a:xfrm>
          <a:prstGeom prst="roundRect">
            <a:avLst/>
          </a:prstGeom>
          <a:solidFill>
            <a:srgbClr val="EFEAFF"/>
          </a:solidFill>
          <a:ln w="15875">
            <a:solidFill>
              <a:srgbClr val="7C4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36992" y="1819656"/>
            <a:ext cx="3419856" cy="3950207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spcAft>
                <a:spcPts val="300"/>
              </a:spcAft>
            </a:pPr>
            <a:r>
              <a:rPr b="1" sz="1100">
                <a:solidFill>
                  <a:srgbClr val="7C4DFF"/>
                </a:solidFill>
                <a:latin typeface="Calibri"/>
              </a:rPr>
              <a:t>Answers (click to reveal)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1.  17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2.  x ≠ −5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3.  x ≥ 7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4.  7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D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2DD4BF"/>
                </a:solidFill>
                <a:latin typeface="Calibri"/>
              </a:rPr>
              <a:t>PLENARY · WHAT HAVE WE LEARNED?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03504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FFFFFF"/>
                </a:solidFill>
                <a:latin typeface="Georgia"/>
              </a:rPr>
              <a:t>Plenary &amp; exit ticket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554480"/>
            <a:ext cx="5212080" cy="42976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" y="1554480"/>
            <a:ext cx="5212080" cy="457200"/>
          </a:xfrm>
          <a:prstGeom prst="round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783080"/>
            <a:ext cx="5212080" cy="228600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554480"/>
            <a:ext cx="4754880" cy="45720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KEY FORMULAS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39111" y="2240280"/>
            <a:ext cx="2414016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 xmlns:a14="http://schemas.microsoft.com/office/drawing/2010/main" xmlns:m="http://schemas.openxmlformats.org/officeDocument/2006/math">
            <a:pPr algn="ctr">
              <a:defRPr sz="2200">
                <a:solidFill>
                  <a:srgbClr val="4F3DF5"/>
                </a:solidFill>
              </a:defRPr>
            </a:pPr>
            <a14:m>
              <m:oMathPara>
                <m:oMath>
                  <m:r>
                    <a:rPr sz="2200">
                      <a:solidFill>
                        <a:srgbClr val="4F3DF5"/>
                      </a:solidFill>
                    </a:rPr>
                    <m:t xml:space="preserve">f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(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x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)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=</m:t>
                  </m:r>
                  <m:r>
                    <a:rPr sz="2200">
                      <a:solidFill>
                        <a:srgbClr val="4F3DF5"/>
                      </a:solidFill>
                    </a:rPr>
                    <m:rPr>
                      <m:sty m:val="p"/>
                    </m:rPr>
                    <m:t xml:space="preserve">output for input 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x</m:t>
                  </m:r>
                </m:oMath>
              </m:oMathPara>
            </a14:m>
          </a:p>
        </p:txBody>
      </p:sp>
      <p:sp>
        <p:nvSpPr>
          <p:cNvPr id="13" name="TextBox 12"/>
          <p:cNvSpPr txBox="1"/>
          <p:nvPr/>
        </p:nvSpPr>
        <p:spPr>
          <a:xfrm>
            <a:off x="2039111" y="3154680"/>
            <a:ext cx="2414016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 xmlns:a14="http://schemas.microsoft.com/office/drawing/2010/main" xmlns:m="http://schemas.openxmlformats.org/officeDocument/2006/math">
            <a:pPr algn="ctr">
              <a:defRPr sz="2200">
                <a:solidFill>
                  <a:srgbClr val="4F3DF5"/>
                </a:solidFill>
              </a:defRPr>
            </a:pPr>
            <a14:m>
              <m:oMathPara>
                <m:oMath>
                  <m:r>
                    <a:rPr sz="2200">
                      <a:solidFill>
                        <a:srgbClr val="4F3DF5"/>
                      </a:solidFill>
                    </a:rPr>
                    <m:rPr>
                      <m:sty m:val="p"/>
                    </m:rPr>
                    <m:t xml:space="preserve">exclude: </m:t>
                  </m:r>
                  <m:f>
                    <m:num>
                      <m:r>
                        <a:rPr sz="2200">
                          <a:solidFill>
                            <a:srgbClr val="4F3DF5"/>
                          </a:solidFill>
                        </a:rPr>
                        <m:t xml:space="preserve">1</m:t>
                      </m:r>
                    </m:num>
                    <m:den>
                      <m:r>
                        <a:rPr sz="2200">
                          <a:solidFill>
                            <a:srgbClr val="4F3DF5"/>
                          </a:solidFill>
                        </a:rPr>
                        <m:t xml:space="preserve">0</m:t>
                      </m:r>
                    </m:den>
                  </m:f>
                  <m:r>
                    <a:rPr sz="2200">
                      <a:solidFill>
                        <a:srgbClr val="4F3DF5"/>
                      </a:solidFill>
                    </a:rPr>
                    <m:t xml:space="preserve">,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 </m:t>
                  </m:r>
                  <m:rad>
                    <m:radPr>
                      <m:degHide m:val="1"/>
                    </m:radPr>
                    <m:deg/>
                    <m:e>
                      <m:r>
                        <a:rPr sz="2200">
                          <a:solidFill>
                            <a:srgbClr val="4F3DF5"/>
                          </a:solidFill>
                        </a:rPr>
                        <m:rPr>
                          <m:sty m:val="p"/>
                        </m:rPr>
                        <m:t xml:space="preserve">negative</m:t>
                      </m:r>
                    </m:e>
                  </m:rad>
                </m:oMath>
              </m:oMathPara>
            </a14:m>
          </a:p>
        </p:txBody>
      </p:sp>
      <p:sp>
        <p:nvSpPr>
          <p:cNvPr id="14" name="Rounded Rectangle 13"/>
          <p:cNvSpPr/>
          <p:nvPr/>
        </p:nvSpPr>
        <p:spPr>
          <a:xfrm>
            <a:off x="6035040" y="1554480"/>
            <a:ext cx="5486400" cy="4297680"/>
          </a:xfrm>
          <a:prstGeom prst="roundRect">
            <a:avLst/>
          </a:prstGeom>
          <a:solidFill>
            <a:srgbClr val="2A2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63640" y="1691640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2B705"/>
                </a:solidFill>
                <a:latin typeface="Calibri"/>
              </a:rPr>
              <a:t>EXIT TICKET — before you leave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2148840"/>
            <a:ext cx="5029200" cy="20116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1.  f(x) = 4x + 1, find f(2).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2.  Domain of  1/(x − 1)?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3.  Domain of  √(x + 3)?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4160520"/>
            <a:ext cx="5074920" cy="16002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0A8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28231" y="4288536"/>
            <a:ext cx="4745736" cy="134416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spcAft>
                <a:spcPts val="300"/>
              </a:spcAft>
            </a:pPr>
            <a:r>
              <a:rPr b="1" sz="1100">
                <a:solidFill>
                  <a:srgbClr val="00A896"/>
                </a:solidFill>
                <a:latin typeface="Calibri"/>
              </a:rPr>
              <a:t>Answers (click to reveal)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1.  9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2.  x ≠ 1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3.  x ≥ −3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868680" y="594360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7D3F0"/>
                </a:solidFill>
                <a:latin typeface="Calibri"/>
              </a:rPr>
              <a:t>Self-assess: 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F6B6B"/>
                </a:solidFill>
                <a:latin typeface="Calibri"/>
              </a:rPr>
              <a:t>●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C9C5E6"/>
                </a:solidFill>
                <a:latin typeface="Calibri"/>
              </a:rPr>
              <a:t>need more help   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2B705"/>
                </a:solidFill>
                <a:latin typeface="Calibri"/>
              </a:rPr>
              <a:t>●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C9C5E6"/>
                </a:solidFill>
                <a:latin typeface="Calibri"/>
              </a:rPr>
              <a:t>nearly there   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00A896"/>
                </a:solidFill>
                <a:latin typeface="Calibri"/>
              </a:rPr>
              <a:t>●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C9C5E6"/>
                </a:solidFill>
                <a:latin typeface="Calibri"/>
              </a:rPr>
              <a:t>confident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4DFF"/>
                </a:solidFill>
                <a:latin typeface="Calibri"/>
              </a:rPr>
              <a:t>HOMEWORK &amp; 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Homework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783080"/>
            <a:ext cx="6858000" cy="3108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" y="1783080"/>
            <a:ext cx="6858000" cy="420624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993392"/>
            <a:ext cx="6858000" cy="210312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59" y="1801368"/>
            <a:ext cx="649224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SET ON DR FROST MATHS (auto-marked)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377440"/>
            <a:ext cx="6400800" cy="23774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7C4DFF"/>
                </a:solidFill>
                <a:latin typeface="Calibri"/>
              </a:rPr>
              <a:t>Task: 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Function notation, domain &amp; range.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•  Aim for 80%+ before the next lesson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•  Re-attempt any flagged questions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•  Bring one tricky question to discuss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80960" y="1783080"/>
            <a:ext cx="3840480" cy="3108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680960" y="1783080"/>
            <a:ext cx="3840480" cy="420624"/>
          </a:xfrm>
          <a:prstGeom prst="round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680960" y="1993392"/>
            <a:ext cx="3840480" cy="210312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63840" y="1801368"/>
            <a:ext cx="347472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NEXT LESSON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09560" y="2377440"/>
            <a:ext cx="3383280" cy="23774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D1A33"/>
                </a:solidFill>
                <a:latin typeface="Calibri"/>
              </a:rPr>
              <a:t>Lesson 12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6E6A8A"/>
                </a:solidFill>
                <a:latin typeface="Calibri"/>
              </a:rPr>
              <a:t>Composite &amp; inverse functions — combining functions and reversing them.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94192" y="4114800"/>
            <a:ext cx="2414016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 xmlns:a14="http://schemas.microsoft.com/office/drawing/2010/main" xmlns:m="http://schemas.openxmlformats.org/officeDocument/2006/math">
            <a:pPr algn="ctr">
              <a:defRPr sz="2200">
                <a:solidFill>
                  <a:srgbClr val="00A896"/>
                </a:solidFill>
              </a:defRPr>
            </a:pPr>
            <a14:m>
              <m:oMathPara>
                <m:oMath>
                  <m:r>
                    <a:rPr sz="2200">
                      <a:solidFill>
                        <a:srgbClr val="00A896"/>
                      </a:solidFill>
                    </a:rPr>
                    <m:t xml:space="preserve">(</m:t>
                  </m:r>
                  <m:r>
                    <a:rPr sz="2200">
                      <a:solidFill>
                        <a:srgbClr val="00A896"/>
                      </a:solidFill>
                    </a:rPr>
                    <m:t xml:space="preserve">f</m:t>
                  </m:r>
                  <m:r>
                    <a:rPr sz="2200">
                      <a:solidFill>
                        <a:srgbClr val="00A896"/>
                      </a:solidFill>
                    </a:rPr>
                    <m:t xml:space="preserve">°</m:t>
                  </m:r>
                  <m:r>
                    <a:rPr sz="2200">
                      <a:solidFill>
                        <a:srgbClr val="00A896"/>
                      </a:solidFill>
                    </a:rPr>
                    <m:t xml:space="preserve"> </m:t>
                  </m:r>
                  <m:r>
                    <a:rPr sz="2200">
                      <a:solidFill>
                        <a:srgbClr val="00A896"/>
                      </a:solidFill>
                    </a:rPr>
                    <m:t xml:space="preserve">g</m:t>
                  </m:r>
                  <m:r>
                    <a:rPr sz="2200">
                      <a:solidFill>
                        <a:srgbClr val="00A896"/>
                      </a:solidFill>
                    </a:rPr>
                    <m:t xml:space="preserve">)</m:t>
                  </m:r>
                  <m:r>
                    <a:rPr sz="2200">
                      <a:solidFill>
                        <a:srgbClr val="00A896"/>
                      </a:solidFill>
                    </a:rPr>
                    <m:t xml:space="preserve">(</m:t>
                  </m:r>
                  <m:r>
                    <a:rPr sz="2200">
                      <a:solidFill>
                        <a:srgbClr val="00A896"/>
                      </a:solidFill>
                    </a:rPr>
                    <m:t xml:space="preserve">x</m:t>
                  </m:r>
                  <m:r>
                    <a:rPr sz="2200">
                      <a:solidFill>
                        <a:srgbClr val="00A896"/>
                      </a:solidFill>
                    </a:rPr>
                    <m:t xml:space="preserve">)</m:t>
                  </m:r>
                  <m:r>
                    <a:rPr sz="2200">
                      <a:solidFill>
                        <a:srgbClr val="00A896"/>
                      </a:solidFill>
                    </a:rPr>
                    <m:t xml:space="preserve">=</m:t>
                  </m:r>
                  <m:r>
                    <a:rPr sz="2200">
                      <a:solidFill>
                        <a:srgbClr val="00A896"/>
                      </a:solidFill>
                    </a:rPr>
                    <m:t xml:space="preserve">f</m:t>
                  </m:r>
                  <m:r>
                    <a:rPr sz="2200">
                      <a:solidFill>
                        <a:srgbClr val="00A896"/>
                      </a:solidFill>
                    </a:rPr>
                    <m:t xml:space="preserve">(</m:t>
                  </m:r>
                  <m:r>
                    <a:rPr sz="2200">
                      <a:solidFill>
                        <a:srgbClr val="00A896"/>
                      </a:solidFill>
                    </a:rPr>
                    <m:t xml:space="preserve">g</m:t>
                  </m:r>
                  <m:r>
                    <a:rPr sz="2200">
                      <a:solidFill>
                        <a:srgbClr val="00A896"/>
                      </a:solidFill>
                    </a:rPr>
                    <m:t xml:space="preserve">(</m:t>
                  </m:r>
                  <m:r>
                    <a:rPr sz="2200">
                      <a:solidFill>
                        <a:srgbClr val="00A896"/>
                      </a:solidFill>
                    </a:rPr>
                    <m:t xml:space="preserve">x</m:t>
                  </m:r>
                  <m:r>
                    <a:rPr sz="2200">
                      <a:solidFill>
                        <a:srgbClr val="00A896"/>
                      </a:solidFill>
                    </a:rPr>
                    <m:t xml:space="preserve">)</m:t>
                  </m:r>
                  <m:r>
                    <a:rPr sz="2200">
                      <a:solidFill>
                        <a:srgbClr val="00A896"/>
                      </a:solidFill>
                    </a:rPr>
                    <m:t xml:space="preserve">)</m:t>
                  </m:r>
                </m:oMath>
              </m:oMathPara>
            </a14:m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