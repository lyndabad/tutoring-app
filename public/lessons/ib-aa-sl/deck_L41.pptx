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Integration &amp; Antiderivatives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5.5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Differentiate  x³.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 what differentiates to give 3x²?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What differentiates to give 2x?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3x²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x³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41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integration as the reverse of differentiation.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power rule for integration.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Include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constant of integration C.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Integrate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sums of power terms.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explain integration as 'anti-differentiation'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∫xⁿ dx = xⁿ⁺¹/(n+1) +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always add + C for an indefinite integral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integrate term by term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Reverse the power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∫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p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x</m:t>
                          </m:r>
                        </m:e>
                        <m: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+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p>
                      </m:sSup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Add 1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increase the power by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Divide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by the new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+ C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always, for an indefinite integral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+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Differentiating a constant gives 0,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so the constant is 'lost'.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Restore it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with + 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Integrate a polynomial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 ∫ (6x² + 2) dx.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Integrate each term (add 1, divide):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∫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6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6</m:t>
                      </m:r>
                      <m:sSup>
                        <m:e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x</m:t>
                          </m:r>
                        </m:e>
                        <m:sup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3</m:t>
                          </m:r>
                        </m:sup>
                      </m:sSup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den>
                  </m:f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2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∫2 dx = 2x. Don't forget + C: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169663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integrate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∫ x³ dx.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∫ 4x dx.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∫ (2x + 1) dx.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x⁴/4 +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2x² +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x² + x +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Finding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A KNOWN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∫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Integrate to get the general expression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Substitute a known point to find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dy/dx = 2x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→ y = x² +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passes (1, 5)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5 = 1 + C → C =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so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y = x² + 4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the constant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curve has  dy/dx = 2x  and passes through (3, 10).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Integrate: y = x² + 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(3, 10): 10 = 3² + C → C = 1: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1" y="3072384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 ∫ (3x² − 4x + 5) dx.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The gradient of a curve is dy/dx = 4x and it passes through (1, 7). Find y.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x³ − 2x² + 5x + C  (A1)(A1)(A1)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y = 2x² + C  (M1); 7 = 2 + C → C = 5  (A1) → y = 2x² + 5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+ C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Never omit the constant for an indefinite integral.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Add then divide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Increase the power by 1, then divide by the new power.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Integration ≠ differentiation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They go in opposite directions.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Find C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Use the given point to determine C when asked for 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∫ x⁵ dx.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∫ 6x² dx.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∫ (x − 3) dx.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dy/dx = 3, through (0, 2). Find 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x⁶/6 +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2x³ +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x²/2 − 3x +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y = 3x + 2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∫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p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x</m:t>
                          </m:r>
                        </m:e>
                        <m:sup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+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p>
                      </m:sSup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always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∫ x² dx.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∫ 2 dx.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What must you always add?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x³/3 +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2x +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+ 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Integration &amp; antiderivatives.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42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Definite integrals &amp; the area under a curve.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sSup>
                    <m:e>
                      <m:sSub>
                        <m:e>
                          <m:r>
                            <a:rPr sz="2200">
                              <a:solidFill>
                                <a:srgbClr val="00A896"/>
                              </a:solidFill>
                            </a:rPr>
                            <m:t xml:space="preserve">∫</m:t>
                          </m:r>
                        </m:e>
                        <m:sub>
                          <m:r>
                            <a:rPr sz="2200">
                              <a:solidFill>
                                <a:srgbClr val="00A896"/>
                              </a:solidFill>
                            </a:rPr>
                            <m:t xml:space="preserve">a</m:t>
                          </m:r>
                        </m:sub>
                      </m:sSub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b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