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Sum to Infinity &amp;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Number &amp; Algebra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1.8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Work out  ½ + ¼ + ⅛ + 1/16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What value do the partial sums get close to?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In  8, 4, 2, 1, … what is 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4406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6E6A8A"/>
                </a:solidFill>
                <a:latin typeface="Calibri"/>
              </a:rPr>
              <a:t>Recall: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1644" y="5577840"/>
            <a:ext cx="184343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17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1700">
                          <a:solidFill>
                            <a:srgbClr val="4F3DF5"/>
                          </a:solidFill>
                        </a:rPr>
                        <m:t xml:space="preserve">S</m:t>
                      </m:r>
                    </m:e>
                    <m:sub>
                      <m:r>
                        <a:rPr sz="1700">
                          <a:solidFill>
                            <a:srgbClr val="4F3DF5"/>
                          </a:solidFill>
                        </a:rPr>
                        <m:t xml:space="preserve">n</m:t>
                      </m:r>
                    </m:sub>
                  </m:sSub>
                  <m:r>
                    <a:rPr sz="17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sSub>
                        <m:e>
                          <m:r>
                            <a:rPr sz="1700">
                              <a:solidFill>
                                <a:srgbClr val="4F3DF5"/>
                              </a:solidFill>
                            </a:rPr>
                            <m:t xml:space="preserve">u</m:t>
                          </m:r>
                        </m:e>
                        <m:sub>
                          <m:r>
                            <a:rPr sz="1700">
                              <a:solidFill>
                                <a:srgbClr val="4F3DF5"/>
                              </a:solidFill>
                            </a:rPr>
                            <m:t xml:space="preserve">1</m:t>
                          </m:r>
                        </m:sub>
                      </m:sSub>
                      <m:r>
                        <a:rPr sz="1700">
                          <a:solidFill>
                            <a:srgbClr val="4F3DF5"/>
                          </a:solidFill>
                        </a:rPr>
                        <m:t xml:space="preserve">(</m:t>
                      </m:r>
                      <m:r>
                        <a:rPr sz="17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  <m:r>
                        <a:rPr sz="17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sSup>
                        <m:e>
                          <m:r>
                            <a:rPr sz="1700">
                              <a:solidFill>
                                <a:srgbClr val="4F3DF5"/>
                              </a:solidFill>
                            </a:rPr>
                            <m:t xml:space="preserve">r</m:t>
                          </m:r>
                        </m:e>
                        <m:sup>
                          <m:r>
                            <a:rPr sz="1700">
                              <a:solidFill>
                                <a:srgbClr val="4F3DF5"/>
                              </a:solidFill>
                            </a:rPr>
                            <m:t xml:space="preserve"> </m:t>
                          </m:r>
                          <m:r>
                            <a:rPr sz="1700">
                              <a:solidFill>
                                <a:srgbClr val="4F3DF5"/>
                              </a:solidFill>
                            </a:rPr>
                            <m:t xml:space="preserve">n</m:t>
                          </m:r>
                        </m:sup>
                      </m:sSup>
                      <m:r>
                        <a:rPr sz="1700">
                          <a:solidFill>
                            <a:srgbClr val="4F3DF5"/>
                          </a:solidFill>
                        </a:rPr>
                        <m:t xml:space="preserve">)</m:t>
                      </m:r>
                    </m:num>
                    <m:den>
                      <m:r>
                        <a:rPr sz="17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  <m:r>
                        <a:rPr sz="17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r>
                        <a:rPr sz="1700">
                          <a:solidFill>
                            <a:srgbClr val="4F3DF5"/>
                          </a:solidFill>
                        </a:rPr>
                        <m:t xml:space="preserve">r</m:t>
                      </m:r>
                    </m:den>
                  </m:f>
                </m:oMath>
              </m:oMathPara>
            </a14:m>
          </a:p>
        </p:txBody>
      </p:sp>
      <p:sp>
        <p:nvSpPr>
          <p:cNvPr id="20" name="Rounded Rectangle 19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15/16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it approaches 1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r = 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4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Understand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why a geometric series can have a finite sum when |r| &lt; 1.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State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condition for convergence: |r| &lt; 1.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Apply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S∞ = u₁/(1−r).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Solve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problems including recurring decimals and real contexts.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state when a geometric series converges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use the sum-to-infinity formula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convert a recurring decimal to a fraction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rearrange S∞ to find u₁ or 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Sum to infinity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S</m:t>
                      </m:r>
                    </m:e>
                    <m:sub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∞</m:t>
                      </m:r>
                    </m:sub>
                  </m:sSub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sSub>
                        <m:e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u</m:t>
                          </m:r>
                        </m:e>
                        <m:sub>
                          <m:r>
                            <a:rPr sz="2400">
                              <a:solidFill>
                                <a:srgbClr val="4F3DF5"/>
                              </a:solidFill>
                            </a:rPr>
                            <m:t xml:space="preserve">1</m:t>
                          </m:r>
                        </m:sub>
                      </m:sSub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r</m:t>
                      </m:r>
                    </m:den>
                  </m:f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Condition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only valid when |r| &lt;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Why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rⁿ → 0 as n → ∞, so the (1−rⁿ) term →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DOES IT CONVERGE?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|r| &lt; 1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yes — the sum settles to a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|r| ≥ 1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no — the sum grows without limit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Check r first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always test the ratio.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Find S∞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the sum to infinity of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8 + 4 + 2 + 1 +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Step 1  u₁ = 8, r = ½  (|r| &lt; 1 ✓)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72491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Step 2  substitute: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3118104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1D1A33"/>
                </a:solidFill>
              </a:defRPr>
            </a:pPr>
            <a14:m>
              <m:oMathPara>
                <m:oMath>
                  <m:sSub>
                    <m:e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S</m:t>
                      </m:r>
                    </m:e>
                    <m:sub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∞</m:t>
                      </m:r>
                    </m:sub>
                  </m:sSub>
                  <m:r>
                    <a:rPr sz="2400">
                      <a:solidFill>
                        <a:srgbClr val="1D1A33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8</m:t>
                      </m:r>
                    </m:num>
                    <m:den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1</m:t>
                      </m:r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−</m:t>
                      </m:r>
                      <m:f>
                        <m:num>
                          <m:r>
                            <a:rPr sz="2400">
                              <a:solidFill>
                                <a:srgbClr val="1D1A33"/>
                              </a:solidFill>
                            </a:rPr>
                            <m:t xml:space="preserve">1</m:t>
                          </m:r>
                        </m:num>
                        <m:den>
                          <m:r>
                            <a:rPr sz="2400">
                              <a:solidFill>
                                <a:srgbClr val="1D1A33"/>
                              </a:solidFill>
                            </a:rPr>
                            <m:t xml:space="preserve">2</m:t>
                          </m:r>
                        </m:den>
                      </m:f>
                    </m:den>
                  </m:f>
                </m:oMath>
              </m:oMathPara>
            </a14:m>
          </a:p>
        </p:txBody>
      </p:sp>
      <p:sp>
        <p:nvSpPr>
          <p:cNvPr id="21" name="TextBox 20"/>
          <p:cNvSpPr txBox="1"/>
          <p:nvPr/>
        </p:nvSpPr>
        <p:spPr>
          <a:xfrm>
            <a:off x="4663440" y="4215384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Step 3  evaluate: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1" y="4608576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S</m:t>
                      </m:r>
                    </m:e>
                    <m:sub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∞</m:t>
                      </m:r>
                    </m:sub>
                  </m:sSub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8</m:t>
                      </m:r>
                    </m:num>
                    <m:den>
                      <m:f>
                        <m:num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1</m:t>
                          </m:r>
                        </m:num>
                        <m:den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2</m:t>
                          </m:r>
                        </m:den>
                      </m:f>
                    </m:den>
                  </m:f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6</m:t>
                  </m:r>
                </m:oMath>
              </m:oMathPara>
            </a14:m>
          </a:p>
        </p:txBody>
      </p:sp>
      <p:sp>
        <p:nvSpPr>
          <p:cNvPr id="23" name="TextBox 22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A896"/>
                </a:solidFill>
                <a:latin typeface="Calibri"/>
              </a:rPr>
              <a:t>Tip: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6E6A8A"/>
                </a:solidFill>
                <a:latin typeface="Calibri"/>
              </a:rPr>
              <a:t>Always check |r| &lt; 1 before using the formula — state it for the reasoning mark.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S∞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Find S∞ of  9 + 3 + 1 + 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Find S∞ of  20 + 10 + 5 + 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Does  2 + 4 + 8 + … converge? Why?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9/(1−⅓)=13.5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20/(1−½)=40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No — r = 2, |r| ≥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Recurring decimals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AS A GEOMETRIC SERIES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0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.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3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3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0</m:t>
                      </m:r>
                    </m:den>
                  </m:f>
                  <m:r>
                    <a:rPr sz="2400">
                      <a:solidFill>
                        <a:srgbClr val="4F3DF5"/>
                      </a:solidFill>
                    </a:rPr>
                    <m:t xml:space="preserve">+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3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0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0</m:t>
                      </m:r>
                    </m:den>
                  </m:f>
                  <m:r>
                    <a:rPr sz="24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/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Each place is ÷10 of the last → r = 1/10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Then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use S∞ to get the fraction.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WORKED IDEA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0.3̄ : u₁ = 3/10, r = 1/10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S∞ = (3/10)/(1−1/10)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= (3/10)/(9/10) = 1/3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Find u₁ from S∞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A convergent geometric series has r = 0.2 and sum to infinity 25.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the first term u₁.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Step 1  rearrange S∞ = u₁/(1−r):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7999" y="2679192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sSub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1</m:t>
                      </m:r>
                    </m:sub>
                  </m:sSub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sSub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S</m:t>
                      </m:r>
                    </m:e>
                    <m:sub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∞</m:t>
                      </m:r>
                    </m:sub>
                  </m:sSub>
                  <m:r>
                    <a:rPr sz="20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−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r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02736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Step 2  substitute r = 0.2, S∞ = 25: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3995928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sSub>
                    <m:e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2000">
                          <a:solidFill>
                            <a:srgbClr val="1D1A33"/>
                          </a:solidFill>
                        </a:rPr>
                        <m:t xml:space="preserve">1</m:t>
                      </m:r>
                    </m:sub>
                  </m:sSub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5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−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.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5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.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8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22" name="TextBox 21"/>
          <p:cNvSpPr txBox="1"/>
          <p:nvPr/>
        </p:nvSpPr>
        <p:spPr>
          <a:xfrm>
            <a:off x="4663440" y="491947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Step 3  evaluate: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7999" y="5312664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2000">
                          <a:solidFill>
                            <a:srgbClr val="4F3DF5"/>
                          </a:solidFill>
                        </a:rPr>
                        <m:t xml:space="preserve">u</m:t>
                      </m:r>
                    </m:e>
                    <m:sub>
                      <m:r>
                        <a:rPr sz="20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sub>
                  </m:sSub>
                  <m:r>
                    <a:rPr sz="20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0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 geometric series has first term 12 and common ratio r, with sum to infinity 20.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Show that r = 0.4.   [3]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Find the sum of the first 4 terms.   [3]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20 = 12/(1−r)  (M1) → 1−r = 0.6  (A1) → r = 0.4  (AG)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S₄ = 12(1−0.4⁴)/(1−0.4)  (M1)(A1) = 19.49 (4 s.f.)  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Forgetting |r|&lt;1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Check convergence before using S∞.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1−r sign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Denominator is (1 − r), not (r − 1).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Using Sₙ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S∞ has no n — don't put a power of r in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Decimal place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For a recurring decimal, r = 1/10 (or 1/100 for two digits).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Find S∞ of  16 + 8 + 4 + 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Find S∞ of  6 − 3 + 1.5 − 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A series has u₁ = 30, S∞ = 50. Find 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Write 0.4̄ as a fraction.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16/(1−½)=32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6/(1+½)=4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50=30/(1−r)→r=0.4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(4/10)/(9/10)=4/9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S</m:t>
                      </m:r>
                    </m:e>
                    <m:sub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∞</m:t>
                      </m:r>
                    </m:sub>
                  </m:sSub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sSub>
                        <m:e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u</m:t>
                          </m:r>
                        </m:e>
                        <m:sub>
                          <m:r>
                            <a:rPr sz="2200">
                              <a:solidFill>
                                <a:srgbClr val="4F3DF5"/>
                              </a:solidFill>
                            </a:rPr>
                            <m:t xml:space="preserve">1</m:t>
                          </m:r>
                        </m:sub>
                      </m:sSub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−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r</m:t>
                      </m:r>
                    </m:den>
                  </m:f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|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r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|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&lt;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1</m:t>
                  </m:r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Find S∞ of  10 + 2 + 0.4 + …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Does  3 + 6 + 12 + … converge?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A series has r = ½, S∞ = 24. Find u₁.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10/(1−0.2)=12.5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No — r = 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u₁ = 24(1−½) = 12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Sum to infinity.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Exponents &amp; laws of indices — the rules that power all of this.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sSup>
                    <m:e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a</m:t>
                      </m:r>
                    </m:e>
                    <m:sup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m</m:t>
                      </m:r>
                    </m:sup>
                  </m:sSup>
                  <m:r>
                    <a:rPr sz="2200">
                      <a:solidFill>
                        <a:srgbClr val="00A896"/>
                      </a:solidFill>
                    </a:rPr>
                    <m:t xml:space="preserve">×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 </m:t>
                  </m:r>
                  <m:sSup>
                    <m:e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a</m:t>
                      </m:r>
                    </m:e>
                    <m:sup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n</m:t>
                      </m:r>
                    </m:sup>
                  </m:sSup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sSup>
                    <m:e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a</m:t>
                      </m:r>
                    </m:e>
                    <m:sup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m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+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n</m:t>
                      </m:r>
                    </m:sup>
                  </m:sSup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