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869680" y="-1554480"/>
            <a:ext cx="5212080" cy="5212080"/>
          </a:xfrm>
          <a:prstGeom prst="ellipse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0" y="3383280"/>
            <a:ext cx="3017520" cy="3017520"/>
          </a:xfrm>
          <a:prstGeom prst="ellipse">
            <a:avLst/>
          </a:prstGeom>
          <a:solidFill>
            <a:srgbClr val="242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0" y="640080"/>
            <a:ext cx="2743200" cy="2743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0" b="1" i="0">
                <a:solidFill>
                  <a:srgbClr val="7C4DFF"/>
                </a:solidFill>
                <a:latin typeface="Georgia"/>
              </a:rPr>
              <a:t>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051560"/>
            <a:ext cx="4206240" cy="365760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420624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IB MATH AA SL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783080"/>
            <a:ext cx="731520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0A896"/>
                </a:solidFill>
                <a:latin typeface="Calibri"/>
              </a:rPr>
              <a:t>Lesson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240280"/>
            <a:ext cx="85953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Georgia"/>
              </a:rPr>
              <a:t>Discrete Random Variables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C9C5E6"/>
                </a:solidFill>
                <a:latin typeface="Calibri"/>
              </a:rPr>
              <a:t>Statistics &amp; Probability  ·  60-minute lesson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E6A8A"/>
                </a:solidFill>
                <a:latin typeface="Calibri"/>
              </a:rPr>
              <a:t>Syllabus SL 4.7  ·  Property of Lynda Badmus Education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STARTER · DO NOW (5 MIN) · RETRIEVAL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RECALL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Do Now — recall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8580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ON YOUR WHITEBOARD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List the outcomes of one die roll.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What must all probabilities add to?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P(X=2) if X is a fair die?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26679" y="1691640"/>
            <a:ext cx="3794760" cy="4206240"/>
          </a:xfrm>
          <a:prstGeom prst="roundRect">
            <a:avLst/>
          </a:prstGeom>
          <a:solidFill>
            <a:srgbClr val="E6F7F3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91271" y="1819656"/>
            <a:ext cx="346557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1.  1,2,3,4,5,6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1/6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LESSON 30 · WHAT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What we're learning today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8521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8521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8521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486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LEARNING OBJECTIVES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2286000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8600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249424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Understand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a probability distribution.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3127248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12724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090672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Check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that probabilities sum to 1.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" y="3968496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9684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93192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Calculate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the expected value E(X).</a:t>
            </a:r>
          </a:p>
        </p:txBody>
      </p:sp>
      <p:sp>
        <p:nvSpPr>
          <p:cNvPr id="22" name="Oval 21"/>
          <p:cNvSpPr/>
          <p:nvPr/>
        </p:nvSpPr>
        <p:spPr>
          <a:xfrm>
            <a:off x="868680" y="4809744"/>
            <a:ext cx="384048" cy="384048"/>
          </a:xfrm>
          <a:prstGeom prst="ellipse">
            <a:avLst/>
          </a:prstGeom>
          <a:solidFill>
            <a:srgbClr val="EF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097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4F3DF5"/>
                </a:solidFill>
                <a:latin typeface="Georgia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7C4DFF"/>
                </a:solidFill>
                <a:latin typeface="Calibri"/>
              </a:rPr>
              <a:t>Interpret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E(X) as a long-run average.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691640"/>
            <a:ext cx="48463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75120" y="1691640"/>
            <a:ext cx="484632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0" y="1901952"/>
            <a:ext cx="484632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1709928"/>
            <a:ext cx="448055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SUCCESS CRITERIA — I CAN…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03720" y="2331720"/>
            <a:ext cx="4389120" cy="3566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read a probability distribution table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use Σ P(X = x) = 1 to find a missing value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compute E(X) = Σ x·P(X = x)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0A896"/>
                </a:solidFill>
                <a:latin typeface="Calibri"/>
              </a:rPr>
              <a:t>✓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explain what E(X) means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1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Distributions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PROBABILITIES SUM TO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∑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Distribution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lists each value with its probability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Missing value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use the sum = 1 to find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x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1, 2, 3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P(X=x)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0.2, 0.5,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?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= 1 − 0.7 = 0.3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Find a missing probability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x : 1, 2, 3, 4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P(X=x) : 0.1, 0.3, k, 0.2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All probabilities add to 1: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7999" y="2679192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3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k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1D1A33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02736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So 0.6 + k = 1: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3995928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k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.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4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YOU DO ·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Your turn — sum to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7665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76656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76656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4008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ANSWER IN YOUR 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331720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P: 0.2, 0.2, k. Find 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724912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18104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P: 0.15, k, 0.35, 0.2. Find 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511296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04488"/>
            <a:ext cx="640080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Can a probability be 1.2?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691640"/>
            <a:ext cx="3886200" cy="411480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99831" y="1819656"/>
            <a:ext cx="3557016" cy="38587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1.  0.6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2.  0.3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No (must be 0–1)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NEW LEARNING 2 · I DO (MODELLING)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Expected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54864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54864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54864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51206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MEAN OF 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66544" y="2331720"/>
            <a:ext cx="2633472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4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4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∑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4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TextBox 13"/>
          <p:cNvSpPr txBox="1"/>
          <p:nvPr/>
        </p:nvSpPr>
        <p:spPr>
          <a:xfrm>
            <a:off x="868680" y="35204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E(X)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the long-run average value of 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Method  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multiply each x by its probability, then add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691640"/>
            <a:ext cx="51206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691640"/>
            <a:ext cx="512064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901952"/>
            <a:ext cx="512064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09928"/>
            <a:ext cx="47548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33172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Not necessarily a possible value.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898648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E.g. a die has E(X) = 3.5.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65576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D1A33"/>
                </a:solidFill>
                <a:latin typeface="Calibri"/>
              </a:rPr>
              <a:t>Use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1D1A33"/>
                </a:solidFill>
                <a:latin typeface="Calibri"/>
              </a:rPr>
              <a:t>fair-game and decision problems.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I DO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Expected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356616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3566160" cy="420624"/>
          </a:xfrm>
          <a:prstGeom prst="round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3566160" cy="210312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320040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3200400" cy="32918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x : 0, 1, 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P(X=x) : 0.5, 0.3, 0.2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1D1A33"/>
                </a:solidFill>
                <a:latin typeface="Calibri"/>
              </a:rPr>
              <a:t>Find E(X).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691640"/>
            <a:ext cx="708660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34840" y="1691640"/>
            <a:ext cx="70866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901952"/>
            <a:ext cx="70866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709928"/>
            <a:ext cx="67208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286000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7C4DFF"/>
                </a:solidFill>
                <a:latin typeface="Calibri"/>
              </a:rPr>
              <a:t>E(X) = Σ x·P(X=x):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48271" y="2679192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1D1A33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1D1A33"/>
                      </a:solidFill>
                    </a:rPr>
                    <m:t xml:space="preserve">E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5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1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3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+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0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.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2</m:t>
                  </m:r>
                  <m:r>
                    <a:rPr sz="2200">
                      <a:solidFill>
                        <a:srgbClr val="1D1A33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20" name="TextBox 19"/>
          <p:cNvSpPr txBox="1"/>
          <p:nvPr/>
        </p:nvSpPr>
        <p:spPr>
          <a:xfrm>
            <a:off x="4663440" y="3689604"/>
            <a:ext cx="658368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Evaluate: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4082796"/>
            <a:ext cx="219456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0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0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0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.</m:t>
                  </m:r>
                  <m:r>
                    <a:rPr sz="2000">
                      <a:solidFill>
                        <a:srgbClr val="4F3DF5"/>
                      </a:solidFill>
                    </a:rPr>
                    <m:t xml:space="preserve">7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84048"/>
            <a:ext cx="3108960" cy="365760"/>
          </a:xfrm>
          <a:prstGeom prst="round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84048"/>
            <a:ext cx="3108960" cy="36576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D1A33"/>
                </a:solidFill>
                <a:latin typeface="Calibri"/>
              </a:rPr>
              <a:t>EXAM-STYLE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Exam-style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214884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332720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The random variable X has  P(X=x) = 0.1, 0.4, 0.3, 0.2  for x = 1, 2, 3, 4.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(a) Verify the probabilities sum to 1.   [1]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(b) Find E(X).   [3]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023360"/>
            <a:ext cx="10881360" cy="187451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MARK SCHEME — reveal after students attempt  (tutor only)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26280"/>
            <a:ext cx="10332720" cy="1325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(a) 0.1+0.4+0.3+0.2 = 1  (A1)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1D1A33"/>
                </a:solidFill>
                <a:latin typeface="Calibri"/>
              </a:rPr>
              <a:t>(b) E(X) = 1(0.1)+2(0.4)+3(0.3)+4(0.2)  (M1)(A1) = 2.6  (A1)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AVOID THESE IN THE EXAM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WATCH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Common mistakes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118872" cy="960120"/>
          </a:xfrm>
          <a:prstGeom prst="rect">
            <a:avLst/>
          </a:prstGeom>
          <a:solidFill>
            <a:srgbClr val="FF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FF6B6B"/>
                </a:solidFill>
                <a:latin typeface="Calibri"/>
              </a:rPr>
              <a:t>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78308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Sum to 1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Every probability distribution must total 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834639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834639"/>
            <a:ext cx="118872" cy="960120"/>
          </a:xfrm>
          <a:prstGeom prst="rect">
            <a:avLst/>
          </a:prstGeom>
          <a:solidFill>
            <a:srgbClr val="7C4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834639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7C4DFF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2834639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E(X) method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Multiply each value by ITS probability, then add.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8620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886200"/>
            <a:ext cx="118872" cy="96012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8620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0A896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88620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E(X) possible?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E(X) need not be an attainable value.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937760"/>
            <a:ext cx="1088136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937760"/>
            <a:ext cx="118872" cy="96012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937760"/>
            <a:ext cx="54864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4F3DF5"/>
                </a:solidFill>
                <a:latin typeface="Calibri"/>
              </a:rPr>
              <a:t>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37760"/>
            <a:ext cx="9784080" cy="96012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Range   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Each probability is between 0 and 1.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4F3DF5"/>
                </a:solidFill>
                <a:latin typeface="Calibri"/>
              </a:rPr>
              <a:t>CONSOLIDATE · MIXED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74175" y="310896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E6A8A"/>
                </a:solidFill>
                <a:latin typeface="Calibri"/>
              </a:rPr>
              <a:t>YOU 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Mixed practice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91640"/>
            <a:ext cx="694944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1691640"/>
            <a:ext cx="694944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01952"/>
            <a:ext cx="694944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1709928"/>
            <a:ext cx="6583679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8600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1.  P: 0.25, 0.25, k. Find 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7919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72384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2.  E(X) for x=1,2 with P=0.5,0.5.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65576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858768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3.  E(X) for x=0,10 with P=0.9,0.1.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251960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645152"/>
            <a:ext cx="6492240" cy="3383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1D1A33"/>
                </a:solidFill>
                <a:latin typeface="Calibri"/>
              </a:rPr>
              <a:t>4.  Sum of all probabilities =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691640"/>
            <a:ext cx="3749039" cy="4206240"/>
          </a:xfrm>
          <a:prstGeom prst="roundRect">
            <a:avLst/>
          </a:prstGeom>
          <a:solidFill>
            <a:srgbClr val="EFEAFF"/>
          </a:solidFill>
          <a:ln w="15875">
            <a:solidFill>
              <a:srgbClr val="7C4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819656"/>
            <a:ext cx="3419856" cy="3950207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7C4DFF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1.  0.5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2.  1.5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3.  1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4.  1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DD4BF"/>
                </a:solidFill>
                <a:latin typeface="Calibri"/>
              </a:rPr>
              <a:t>PLENARY · WHAT HAVE WE LEARNED?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03504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Georgia"/>
              </a:rPr>
              <a:t>Plenary &amp; exit ticket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521208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554480"/>
            <a:ext cx="5212080" cy="457200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83080"/>
            <a:ext cx="5212080" cy="228600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5448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KEY FORMULAS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22402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∑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1</m:t>
                  </m:r>
                </m:oMath>
              </m:oMathPara>
            </a14:m>
          </a:p>
        </p:txBody>
      </p:sp>
      <p:sp>
        <p:nvSpPr>
          <p:cNvPr id="13" name="TextBox 12"/>
          <p:cNvSpPr txBox="1"/>
          <p:nvPr/>
        </p:nvSpPr>
        <p:spPr>
          <a:xfrm>
            <a:off x="2039111" y="315468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4F3DF5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4F3DF5"/>
                      </a:solidFill>
                    </a:rPr>
                    <m:t xml:space="preserve">E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∑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=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4F3DF5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  <p:sp>
        <p:nvSpPr>
          <p:cNvPr id="14" name="Rounded Rectangle 13"/>
          <p:cNvSpPr/>
          <p:nvPr/>
        </p:nvSpPr>
        <p:spPr>
          <a:xfrm>
            <a:off x="6035040" y="1554480"/>
            <a:ext cx="5486400" cy="4297680"/>
          </a:xfrm>
          <a:prstGeom prst="roundRect">
            <a:avLst/>
          </a:prstGeom>
          <a:solidFill>
            <a:srgbClr val="2A25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69164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2B705"/>
                </a:solidFill>
                <a:latin typeface="Calibri"/>
              </a:rPr>
              <a:t>EXIT TICKET — before you leave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148840"/>
            <a:ext cx="5029200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1.  P: 0.3, k, 0.5. Find k.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2.  E(X): x=2,4; P=0.5,0.5.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3.  Can P = −0.1?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0749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0A8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1" y="4288536"/>
            <a:ext cx="4745736" cy="1344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ts val="300"/>
              </a:spcAft>
            </a:pPr>
            <a:r>
              <a:rPr b="1" sz="1100">
                <a:solidFill>
                  <a:srgbClr val="00A896"/>
                </a:solidFill>
                <a:latin typeface="Calibri"/>
              </a:rPr>
              <a:t>Answers (click to reveal)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1.  0.2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2.  3</a:t>
            </a:r>
          </a:p>
          <a:p>
            <a:pPr>
              <a:lnSpc>
                <a:spcPct val="105000"/>
              </a:lnSpc>
              <a:spcBef>
                <a:spcPts val="100"/>
              </a:spcBef>
            </a:pPr>
            <a:r>
              <a:rPr sz="1200">
                <a:solidFill>
                  <a:srgbClr val="1D1A33"/>
                </a:solidFill>
                <a:latin typeface="Calibri"/>
              </a:rPr>
              <a:t>3.  No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86868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7D3F0"/>
                </a:solidFill>
                <a:latin typeface="Calibri"/>
              </a:rPr>
              <a:t>Self-assess: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6B6B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need more help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2B705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nearly there  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00A896"/>
                </a:solidFill>
                <a:latin typeface="Calibri"/>
              </a:rPr>
              <a:t>●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9C5E6"/>
                </a:solidFill>
                <a:latin typeface="Calibri"/>
              </a:rPr>
              <a:t>confident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108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4DFF"/>
                </a:solidFill>
                <a:latin typeface="Calibri"/>
              </a:rPr>
              <a:t>HOMEWORK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Property of Lynda Badmus 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56655" y="6446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E6A8A"/>
                </a:solidFill>
                <a:latin typeface="Calibri"/>
              </a:rPr>
              <a:t>IB Math AA SL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1D1A33"/>
                </a:solidFill>
                <a:latin typeface="Georgia"/>
              </a:rPr>
              <a:t>Homework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685800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783080"/>
            <a:ext cx="6858000" cy="420624"/>
          </a:xfrm>
          <a:prstGeom prst="round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93392"/>
            <a:ext cx="6858000" cy="210312"/>
          </a:xfrm>
          <a:prstGeom prst="rect">
            <a:avLst/>
          </a:prstGeom>
          <a:solidFill>
            <a:srgbClr val="4F3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801368"/>
            <a:ext cx="649224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SET ON DR FROST MATHS (auto-marked)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7C4DFF"/>
                </a:solidFill>
                <a:latin typeface="Calibri"/>
              </a:rPr>
              <a:t>Task: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Discrete random variables.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Aim for 80%+ before the next lesson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Re-attempt any flagged questions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1D1A33"/>
                </a:solidFill>
                <a:latin typeface="Calibri"/>
              </a:rPr>
              <a:t>•  Bring one tricky question to discuss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80960" y="1783080"/>
            <a:ext cx="38404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0F2"/>
            </a:solidFill>
          </a:ln>
          <a:effectLst/>
          <a:effectLst>
            <a:outerShdw blurRad="60000" dist="25000" dir="5400000" rotWithShape="0">
              <a:srgbClr val="9A95B8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680960" y="1783080"/>
            <a:ext cx="3840480" cy="420624"/>
          </a:xfrm>
          <a:prstGeom prst="round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80960" y="1993392"/>
            <a:ext cx="3840480" cy="210312"/>
          </a:xfrm>
          <a:prstGeom prst="rect">
            <a:avLst/>
          </a:prstGeom>
          <a:solidFill>
            <a:srgbClr val="00A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01368"/>
            <a:ext cx="3474720" cy="420624"/>
          </a:xfrm>
          <a:prstGeom prst="rect">
            <a:avLst/>
          </a:prstGeom>
          <a:noFill/>
        </p:spPr>
        <p:txBody>
          <a:bodyPr wrap="square" anchor="ctr" lIns="0" rIns="0" tIns="0" bIns="0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NEXT LESSON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377440"/>
            <a:ext cx="3383280" cy="23774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>Lesson 31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D1A33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6E6A8A"/>
                </a:solidFill>
                <a:latin typeface="Calibri"/>
              </a:rPr>
              <a:t>The binomial distribution — repeated trials.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4114800"/>
            <a:ext cx="2414016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 xmlns:a14="http://schemas.microsoft.com/office/drawing/2010/main" xmlns:m="http://schemas.openxmlformats.org/officeDocument/2006/math">
            <a:pPr algn="ctr">
              <a:defRPr sz="2200">
                <a:solidFill>
                  <a:srgbClr val="00A896"/>
                </a:solidFill>
              </a:defRPr>
            </a:pPr>
            <a14:m>
              <m:oMathPara>
                <m:oMath>
                  <m:r>
                    <a:rPr sz="2200">
                      <a:solidFill>
                        <a:srgbClr val="00A896"/>
                      </a:solidFill>
                    </a:rPr>
                    <m:t xml:space="preserve">X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/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 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B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(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n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,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p</m:t>
                  </m:r>
                  <m:r>
                    <a:rPr sz="2200">
                      <a:solidFill>
                        <a:srgbClr val="00A896"/>
                      </a:solidFill>
                    </a:rPr>
                    <m:t xml:space="preserve">)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