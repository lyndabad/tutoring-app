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-1554480"/>
            <a:ext cx="5212080" cy="521208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3383280"/>
            <a:ext cx="3017520" cy="3017520"/>
          </a:xfrm>
          <a:prstGeom prst="ellipse">
            <a:avLst/>
          </a:prstGeom>
          <a:solidFill>
            <a:srgbClr val="24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74320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7C4DFF"/>
                </a:solidFill>
                <a:latin typeface="Georgia"/>
              </a:rPr>
              <a:t>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51560"/>
            <a:ext cx="4206240" cy="365760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IB MATH AA 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0A896"/>
                </a:solidFill>
                <a:latin typeface="Calibri"/>
              </a:rPr>
              <a:t>Lesson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40280"/>
            <a:ext cx="859536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Solving Exponential &amp; Log Equations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9C5E6"/>
                </a:solidFill>
                <a:latin typeface="Calibri"/>
              </a:rPr>
              <a:t>Number &amp; Algebra  ·  60-minute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6A8A"/>
                </a:solidFill>
                <a:latin typeface="Calibri"/>
              </a:rPr>
              <a:t>Syllabus SL 1.7  ·  Property of Lynda Badmus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STARTER · DO NOW (5 MIN)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Do Now —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858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YOUR WHITEBOARD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Solve  2ˣ =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Solve  log₃ x =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What is  log 10ˣ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691640"/>
            <a:ext cx="3794760" cy="4206240"/>
          </a:xfrm>
          <a:prstGeom prst="roundRect">
            <a:avLst/>
          </a:prstGeom>
          <a:solidFill>
            <a:srgbClr val="E6F7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819656"/>
            <a:ext cx="346557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x = 4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x = 9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LESSON 7 · WHAT &amp;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What we're learning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852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8521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8521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486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49424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Solve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exponential equations using logarithms.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127248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272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090672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Solve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logarithmic equations.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968496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68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Apply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laws of logs to rearrange.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809744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097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Check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solutions are valid (log of a positive only).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691640"/>
            <a:ext cx="4846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75120" y="1691640"/>
            <a:ext cx="484632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1901952"/>
            <a:ext cx="484632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709928"/>
            <a:ext cx="448055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SUCCESS CRITERIA — I CAN…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331720"/>
            <a:ext cx="4389120" cy="3566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take logs of both sides to bring down a power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use the power law to solve for x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rewrite a log equation in index form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reject invalid (negative-argument) solutions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1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Exponential equations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sup>
                  </m:sSup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b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⇒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/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 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b</m:t>
                      </m:r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/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 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den>
                  </m:f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Step 1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take logs of both sides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Step 2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use log aˣ = x log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Step 3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divide to make x the subject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 LOGS?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Logs 'bring the power down' so you can solve for x.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GDC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Paper 2: solve directly on the calculator.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Solve an exponential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Solve  3ˣ = 50,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giving your answer to 3 s.f.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Step 1  take logs of both sides: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7999" y="2679192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1D1A33"/>
                      </a:solidFill>
                    </a:rPr>
                    <m:t xml:space="preserve"/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 </m:t>
                  </m:r>
                  <m:sSup>
                    <m:e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3</m:t>
                      </m:r>
                    </m:e>
                    <m:sup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x</m:t>
                      </m:r>
                    </m:sup>
                  </m:sSup>
                  <m:r>
                    <a:rPr sz="20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/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 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5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0</m:t>
                  </m:r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602736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Step 2  power law brings x down: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7999" y="3995928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1D1A33"/>
                      </a:solidFill>
                    </a:rPr>
                    <m:t xml:space="preserve">x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/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 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3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/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 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5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0</m:t>
                  </m:r>
                </m:oMath>
              </m:oMathPara>
            </a14:m>
          </a:p>
        </p:txBody>
      </p:sp>
      <p:sp>
        <p:nvSpPr>
          <p:cNvPr id="22" name="TextBox 21"/>
          <p:cNvSpPr txBox="1"/>
          <p:nvPr/>
        </p:nvSpPr>
        <p:spPr>
          <a:xfrm>
            <a:off x="4663440" y="491947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Step 3  divide and evaluate: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8271" y="5312664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/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 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5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0</m:t>
                      </m:r>
                    </m:num>
                    <m:den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/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 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3</m:t>
                      </m:r>
                    </m:den>
                  </m:f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3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.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5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6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YOU DO ·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Your turn — exponentials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766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7665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7665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008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 IN YOUR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Solve  2ˣ = 20  (3 s.f.)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1810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Solve  5ˣ = 100  (3 s.f.)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1129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0448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Solve  10ˣ = 4500  (3 s.f.)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691640"/>
            <a:ext cx="3886200" cy="411480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1" y="1819656"/>
            <a:ext cx="3557016" cy="38587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log20/log2 = 4.32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log100/log5 = 2.86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log4500 = 3.65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2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Logarithmic equations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sSub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/>
                      </m:r>
                    </m:e>
                    <m:sub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sub>
                  </m:sSub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c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⇒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c</m:t>
                      </m:r>
                    </m:sup>
                  </m:sSup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Step 1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combine logs into one using the laws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Step 2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rewrite in index 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Step 3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solve, then check x makes every log valid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VALIDITY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You can only take the log of a positive number.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Always check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reject any solution that makes an argument ≤ 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Solve a log equation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Solve  log₂(x) + log₂(x − 2) = 3.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Step 1  combine with the product law: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1" y="2679192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1D1A33"/>
                </a:solidFill>
              </a:defRPr>
            </a:pPr>
            <a14:m>
              <m:oMathPara>
                <m:oMath>
                  <m:sSub>
                    <m:e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/>
                      </m:r>
                    </m:e>
                    <m:sub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2</m:t>
                      </m:r>
                    </m:sub>
                  </m:sSub>
                  <m:r>
                    <a:rPr sz="2200">
                      <a:solidFill>
                        <a:srgbClr val="1D1A33"/>
                      </a:solidFill>
                    </a:rPr>
                    <m:t xml:space="preserve"/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/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−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2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/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3</m:t>
                  </m:r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689604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Step 2  index form (2³ = 8):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7999" y="4082796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1D1A33"/>
                </a:solidFill>
              </a:defRPr>
            </a:pPr>
            <a14:m>
              <m:oMathPara>
                <m:oMath>
                  <m:sSup>
                    <m:e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x</m:t>
                      </m:r>
                    </m:e>
                    <m:sup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2</m:t>
                      </m:r>
                    </m:sup>
                  </m:sSup>
                  <m:r>
                    <a:rPr sz="2000">
                      <a:solidFill>
                        <a:srgbClr val="1D1A33"/>
                      </a:solidFill>
                    </a:rPr>
                    <m:t xml:space="preserve">−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2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x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8</m:t>
                  </m:r>
                </m:oMath>
              </m:oMathPara>
            </a14:m>
          </a:p>
        </p:txBody>
      </p:sp>
      <p:sp>
        <p:nvSpPr>
          <p:cNvPr id="22" name="TextBox 21"/>
          <p:cNvSpPr txBox="1"/>
          <p:nvPr/>
        </p:nvSpPr>
        <p:spPr>
          <a:xfrm>
            <a:off x="4663440" y="5006340"/>
            <a:ext cx="6583680" cy="6309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F3DF5"/>
                </a:solidFill>
                <a:latin typeface="Calibri"/>
              </a:rPr>
              <a:t>Step 3  solve x²−2x−8=0 → (x−4)(x+2)=0;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F3DF5"/>
                </a:solidFill>
                <a:latin typeface="Calibri"/>
              </a:rPr>
              <a:t>reject x=−2, so  x =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3108960" cy="365760"/>
          </a:xfrm>
          <a:prstGeom prst="round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D1A33"/>
                </a:solidFill>
                <a:latin typeface="Calibri"/>
              </a:rPr>
              <a:t>EXAM-STYLE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Exam-style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214884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33272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(a) Solve  4ˣ = 30, giving your answer to 3 s.f.   [3]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(b) Solve  log₃(2x + 1) = 2.   [3]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108813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7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MARK SCHEME — reveal after students attempt  (tutor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033272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(a) x log 4 = log 30  (M1)(A1) → x = log30/log4 = 2.45  (A1)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(b) 2x+1 = 3² = 9  (M1)(A1) → x = 4  (A1)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AVOID THESE IN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WATCH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Common mistakes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18872" cy="9601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8308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Forgetting to take logs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You can't solve aˣ = b by inspection unless b is a neat power.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39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34639"/>
            <a:ext cx="118872" cy="96012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34639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7C4D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34639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Power law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log aˣ = x log a — bring the power down first.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118872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0A896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8620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Not combining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Combine logs into ONE before going to index form.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937760"/>
            <a:ext cx="118872" cy="96012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4F3DF5"/>
                </a:solidFill>
                <a:latin typeface="Calibr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3776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Invalid solutions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Reject any answer that makes a log's argument ≤ 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CONSOLIDATE · MIXED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Mixed practice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949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94944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94944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5836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Solve  2ˣ = 1000  (3 s.f.)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Solve  log₅ x =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Solve  7ˣ⁺¹ = 50  (3 s.f.)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4515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4.  Solve  log₂ x + log₂ 4 = 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691640"/>
            <a:ext cx="3749039" cy="420624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1819656"/>
            <a:ext cx="341985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log1000/log2 = 9.97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x = 125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x+1=log50/log7→x=1.01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4.  log₂(4x)=5→4x=32→x=8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PLENARY · WHAT HAVE WE LEARNED?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Plenary &amp; exit ticket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2120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5212080" cy="4572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5212080" cy="2286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KEY FORMULAS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1" y="22402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sSup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e>
                    <m:sup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sup>
                  </m:sSup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b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⇒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/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 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b</m:t>
                      </m:r>
                    </m:num>
                    <m:den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/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 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den>
                  </m:f>
                </m:oMath>
              </m:oMathPara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2039111" y="31546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sSub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/>
                      </m:r>
                    </m:e>
                    <m:sub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sub>
                  </m:sSub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c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⇒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sSup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e>
                    <m:sup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c</m:t>
                      </m:r>
                    </m:sup>
                  </m:sSup>
                </m:oMath>
              </m:oMathPara>
            </a14:m>
          </a:p>
        </p:txBody>
      </p:sp>
      <p:sp>
        <p:nvSpPr>
          <p:cNvPr id="14" name="Rounded Rectangle 13"/>
          <p:cNvSpPr/>
          <p:nvPr/>
        </p:nvSpPr>
        <p:spPr>
          <a:xfrm>
            <a:off x="6035040" y="1554480"/>
            <a:ext cx="5486400" cy="429768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91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705"/>
                </a:solidFill>
                <a:latin typeface="Calibri"/>
              </a:rPr>
              <a:t>EXIT TICKET — before you leave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1.  Solve  3ˣ = 90  (3 s.f.)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2.  Solve  log₄ x = 2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3.  Solve  10ˣ = 250  (3 s.f.)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0749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4288536"/>
            <a:ext cx="4745736" cy="1344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log90/log3 = 4.10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x = 16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log250 = 2.40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7D3F0"/>
                </a:solidFill>
                <a:latin typeface="Calibri"/>
              </a:rPr>
              <a:t>Self-assess: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6B6B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need more help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nearly there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confident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HOMEWORK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Homework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6858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9339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0136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SET ON DR FROST MATHS (auto-marked)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Task: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Exponential &amp; log equations.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Aim for 80%+ before the next lesson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Re-attempt any flagged questions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Bring one tricky question to discuss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783080"/>
            <a:ext cx="38404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1783080"/>
            <a:ext cx="384048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993392"/>
            <a:ext cx="384048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801368"/>
            <a:ext cx="347472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NEXT LESSON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774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Lesson 8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The binomial theorem — expanding (a + b)ⁿ quickly.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11480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00A896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00A896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a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+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b</m:t>
                  </m:r>
                  <m:sSup>
                    <m:e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)</m:t>
                      </m:r>
                    </m:e>
                    <m:sup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n</m:t>
                      </m:r>
                    </m:sup>
                  </m:sSup>
                  <m:r>
                    <a:rPr sz="2200">
                      <a:solidFill>
                        <a:srgbClr val="00A896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∑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 </m:t>
                  </m:r>
                  <m:d>
                    <m:dPr>
                      <m:begChr m:val="("/>
                      <m:endChr m:val=")"/>
                    </m:dPr>
                    <m:e>
                      <m:f>
                        <m:fPr>
                          <m:type m:val="noBar"/>
                        </m:fPr>
                        <m:num>
                          <m:r>
                            <a:rPr sz="2200">
                              <a:solidFill>
                                <a:srgbClr val="00A896"/>
                              </a:solidFill>
                            </a:rPr>
                            <m:t xml:space="preserve">n</m:t>
                          </m:r>
                        </m:num>
                        <m:den>
                          <m:r>
                            <a:rPr sz="2200">
                              <a:solidFill>
                                <a:srgbClr val="00A896"/>
                              </a:solidFill>
                            </a:rPr>
                            <m:t xml:space="preserve">r</m:t>
                          </m:r>
                        </m:den>
                      </m:f>
                    </m:e>
                  </m:d>
                  <m:sSup>
                    <m:e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a</m:t>
                      </m:r>
                    </m:e>
                    <m:sup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n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−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r</m:t>
                      </m:r>
                    </m:sup>
                  </m:sSup>
                  <m:sSup>
                    <m:e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b</m:t>
                      </m:r>
                    </m:e>
                    <m:sup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r</m:t>
                      </m:r>
                    </m:sup>
                  </m:sSup>
                </m:oMath>
              </m:oMathPara>
            </a14:m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