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0" y="-1554480"/>
            <a:ext cx="5212080" cy="5212080"/>
          </a:xfrm>
          <a:prstGeom prst="ellipse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3383280"/>
            <a:ext cx="3017520" cy="3017520"/>
          </a:xfrm>
          <a:prstGeom prst="ellipse">
            <a:avLst/>
          </a:prstGeom>
          <a:solidFill>
            <a:srgbClr val="242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640080"/>
            <a:ext cx="274320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0" b="1" i="0">
                <a:solidFill>
                  <a:srgbClr val="7C4DFF"/>
                </a:solidFill>
                <a:latin typeface="Georgia"/>
              </a:rPr>
              <a:t>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051560"/>
            <a:ext cx="4206240" cy="365760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IB MATH AA SL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0A896"/>
                </a:solidFill>
                <a:latin typeface="Calibri"/>
              </a:rPr>
              <a:t>Lesson 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40280"/>
            <a:ext cx="8595360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Georgia"/>
              </a:rPr>
              <a:t>Chain, Product &amp; Quotient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9C5E6"/>
                </a:solidFill>
                <a:latin typeface="Calibri"/>
              </a:rPr>
              <a:t>Calculus  ·  60-minute lesson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6A8A"/>
                </a:solidFill>
                <a:latin typeface="Calibri"/>
              </a:rPr>
              <a:t>Syllabus SL 5.6  ·  Property of Lynda Badmus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STARTER · DO NOW (5 MIN) · 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Do Now — recall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858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ON YOUR WHITEBOARD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Differentiate  x³.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Differentiate  (stuff)² — what's the outer power?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Differentiate  5x².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691640"/>
            <a:ext cx="3794760" cy="4206240"/>
          </a:xfrm>
          <a:prstGeom prst="roundRect">
            <a:avLst/>
          </a:prstGeom>
          <a:solidFill>
            <a:srgbClr val="E6F7F3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1819656"/>
            <a:ext cx="346557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3x²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2(stuff)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10x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LESSON 37 · WHAT &amp;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What we're learning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852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8521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8521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486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2286000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86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249424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Apply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chain rule for composite functions.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127248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12724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090672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Apply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product rule.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3968496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684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931920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Apply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quotient rule.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809744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8097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Choose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correct rule for an expression.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1691640"/>
            <a:ext cx="48463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75120" y="1691640"/>
            <a:ext cx="484632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0" y="1901952"/>
            <a:ext cx="484632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1709928"/>
            <a:ext cx="448055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SUCCESS CRITERIA — I CAN…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331720"/>
            <a:ext cx="4389120" cy="3566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differentiate (…)ⁿ with the chain rule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differentiate a product u·v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differentiate a quotient u/v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decide which rule a function needs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1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The chain rule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COMPOSITE FUNCTIONS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f>
                    <m:num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d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y</m:t>
                      </m:r>
                    </m:num>
                    <m:den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d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x</m:t>
                      </m:r>
                    </m:den>
                  </m:f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d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y</m:t>
                      </m:r>
                    </m:num>
                    <m:den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d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u</m:t>
                      </m:r>
                    </m:den>
                  </m:f>
                  <m:r>
                    <a:rPr sz="2400">
                      <a:solidFill>
                        <a:srgbClr val="4F3DF5"/>
                      </a:solidFill>
                    </a:rPr>
                    <m:t xml:space="preserve">·</m:t>
                  </m:r>
                  <m:f>
                    <m:num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d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u</m:t>
                      </m:r>
                    </m:num>
                    <m:den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d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x</m:t>
                      </m:r>
                    </m:den>
                  </m:f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Outer × inner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differentiate the outside, then ×derivative of the inside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Spot it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a 'function inside a function'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EXAMPLE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y = (2x+1)⁵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let u = 2x+1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dy/du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= 5u⁴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du/dx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= 2 → dy/dx = 10(2x+1)⁴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Chain rule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Differentiate  y = (3x + 2)⁴.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Let u = 3x + 2, so y = u⁴: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8544" y="2679192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1D1A33"/>
                </a:solidFill>
              </a:defRPr>
            </a:pPr>
            <a14:m>
              <m:oMathPara>
                <m:oMath>
                  <m:f>
                    <m:num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d</m:t>
                      </m:r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y</m:t>
                      </m:r>
                    </m:num>
                    <m:den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d</m:t>
                      </m:r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u</m:t>
                      </m:r>
                    </m:den>
                  </m:f>
                  <m:r>
                    <a:rPr sz="24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4</m:t>
                  </m:r>
                  <m:sSup>
                    <m:e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u</m:t>
                      </m:r>
                    </m:e>
                    <m:sup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3</m:t>
                      </m:r>
                    </m:sup>
                  </m:sSup>
                  <m:r>
                    <a:rPr sz="2400">
                      <a:solidFill>
                        <a:srgbClr val="1D1A33"/>
                      </a:solidFill>
                    </a:rPr>
                    <m:t xml:space="preserve">,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   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 </m:t>
                  </m:r>
                  <m:f>
                    <m:num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d</m:t>
                      </m:r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u</m:t>
                      </m:r>
                    </m:num>
                    <m:den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d</m:t>
                      </m:r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x</m:t>
                      </m:r>
                    </m:den>
                  </m:f>
                  <m:r>
                    <a:rPr sz="24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3</m:t>
                  </m:r>
                </m:oMath>
              </m:oMathPara>
            </a14:m>
          </a:p>
        </p:txBody>
      </p:sp>
      <p:sp>
        <p:nvSpPr>
          <p:cNvPr id="20" name="TextBox 19"/>
          <p:cNvSpPr txBox="1"/>
          <p:nvPr/>
        </p:nvSpPr>
        <p:spPr>
          <a:xfrm>
            <a:off x="4663440" y="3776472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Multiply (chain rule):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1" y="4169663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f>
                    <m:num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d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y</m:t>
                      </m:r>
                    </m:num>
                    <m:den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d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x</m:t>
                      </m:r>
                    </m:den>
                  </m:f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4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3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+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2</m:t>
                  </m:r>
                  <m:sSup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)</m:t>
                      </m:r>
                    </m:e>
                    <m:sup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3</m:t>
                      </m:r>
                    </m:sup>
                  </m:sSup>
                  <m:r>
                    <a:rPr sz="2200">
                      <a:solidFill>
                        <a:srgbClr val="4F3DF5"/>
                      </a:solidFill>
                    </a:rPr>
                    <m:t xml:space="preserve">×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3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1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2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3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+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2</m:t>
                  </m:r>
                  <m:sSup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)</m:t>
                      </m:r>
                    </m:e>
                    <m:sup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3</m:t>
                      </m:r>
                    </m:sup>
                  </m:sSup>
                </m:oMath>
              </m:oMathPara>
            </a14:m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YOU DO · INDEPENDENT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Your turn — chain rule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7665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7665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7665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008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ANSWER IN YOUR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y = (x + 1)³. Find dy/dx.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2491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1810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y = (2x)⁵. Find dy/dx.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1129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0448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y = (5x − 1)². Find dy/dx.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691640"/>
            <a:ext cx="3886200" cy="411480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9831" y="1819656"/>
            <a:ext cx="3557016" cy="38587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3(x+1)²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10(2x)⁴ = 160x⁴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2(5x−1)·5 = 10(5x−1)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2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Product &amp; quotient rules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TWO MORE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u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v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'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u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'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v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+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u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v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'</m:t>
                  </m:r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2066544" y="342900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f>
                    <m:num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u</m:t>
                      </m:r>
                    </m:num>
                    <m:den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v</m:t>
                      </m:r>
                    </m:den>
                  </m:f>
                  <m:r>
                    <a:rPr sz="24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'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u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'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v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−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u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v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'</m:t>
                      </m:r>
                    </m:num>
                    <m:den>
                      <m:sSup>
                        <m:e>
                          <m:r>
                            <a:rPr sz="2400">
                              <a:solidFill>
                                <a:srgbClr val="4F3DF5"/>
                              </a:solidFill>
                            </a:rPr>
                            <m:t xml:space="preserve">v</m:t>
                          </m:r>
                        </m:e>
                        <m:sup>
                          <m:r>
                            <a:rPr sz="2400">
                              <a:solidFill>
                                <a:srgbClr val="4F3DF5"/>
                              </a:solidFill>
                            </a:rPr>
                            <m:t xml:space="preserve">2</m:t>
                          </m:r>
                        </m:sup>
                      </m:sSup>
                    </m:den>
                  </m:f>
                </m:oMath>
              </m:oMathPara>
            </a14:m>
          </a:p>
        </p:txBody>
      </p:sp>
      <p:sp>
        <p:nvSpPr>
          <p:cNvPr id="15" name="TextBox 14"/>
          <p:cNvSpPr txBox="1"/>
          <p:nvPr/>
        </p:nvSpPr>
        <p:spPr>
          <a:xfrm>
            <a:off x="868680" y="46177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Product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differentiate one, keep the other, and add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1206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Quotient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'low d-high minus high d-low, over low squared'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WHICH RULE?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Inside a power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chain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Multiplied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product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Divided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quotient rule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Product rule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Differentiate  y = x²(x + 1)  using the product rule.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u = x², v = x+1 → u′ = 2x, v′ = 1: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1" y="2679192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1D1A33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1D1A33"/>
                      </a:solidFill>
                    </a:rPr>
                    <m:t xml:space="preserve">y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'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u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'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v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+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u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v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'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2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+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1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+</m:t>
                  </m:r>
                  <m:sSup>
                    <m:e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x</m:t>
                      </m:r>
                    </m:e>
                    <m:sup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2</m:t>
                      </m:r>
                    </m:sup>
                  </m:sSup>
                  <m:r>
                    <a:rPr sz="2200">
                      <a:solidFill>
                        <a:srgbClr val="1D1A33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1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)</m:t>
                  </m:r>
                </m:oMath>
              </m:oMathPara>
            </a14:m>
          </a:p>
        </p:txBody>
      </p:sp>
      <p:sp>
        <p:nvSpPr>
          <p:cNvPr id="20" name="TextBox 19"/>
          <p:cNvSpPr txBox="1"/>
          <p:nvPr/>
        </p:nvSpPr>
        <p:spPr>
          <a:xfrm>
            <a:off x="4663440" y="3689604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Simplify: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1" y="4082796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y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'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2</m:t>
                  </m:r>
                  <m:sSup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x</m:t>
                      </m:r>
                    </m:e>
                    <m:sup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</m:sup>
                  </m:sSup>
                  <m:r>
                    <a:rPr sz="2200">
                      <a:solidFill>
                        <a:srgbClr val="4F3DF5"/>
                      </a:solidFill>
                    </a:rPr>
                    <m:t xml:space="preserve">+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2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+</m:t>
                  </m:r>
                  <m:sSup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x</m:t>
                      </m:r>
                    </m:e>
                    <m:sup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</m:sup>
                  </m:sSup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3</m:t>
                  </m:r>
                  <m:sSup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x</m:t>
                      </m:r>
                    </m:e>
                    <m:sup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</m:sup>
                  </m:sSup>
                  <m:r>
                    <a:rPr sz="2200">
                      <a:solidFill>
                        <a:srgbClr val="4F3DF5"/>
                      </a:solidFill>
                    </a:rPr>
                    <m:t xml:space="preserve">+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2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x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3108960" cy="365760"/>
          </a:xfrm>
          <a:prstGeom prst="round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D1A33"/>
                </a:solidFill>
                <a:latin typeface="Calibri"/>
              </a:rPr>
              <a:t>EXAM-STYLE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Exam-style question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214884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33272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Differentiate, simplifying where possible: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(a) y = (4x − 3)⁵.   [2]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(b) y = x·(2x + 1).   [3]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23360"/>
            <a:ext cx="108813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33087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MARK SCHEME — reveal after students attempt  (tutor 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1033272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(a) dy/dx = 5(4x−3)⁴ × 4 = 20(4x−3)⁴  (M1)(A1)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(b) product: 1·(2x+1) + x·2 = 4x + 1  (M1)(A1)(A1)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AVOID THESE IN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WATCH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Common mistakes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118872" cy="9601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6B6B"/>
                </a:solidFill>
                <a:latin typeface="Calibr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78308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Chain rule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Don't forget to × the derivative of the inside.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34639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834639"/>
            <a:ext cx="118872" cy="96012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34639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7C4DFF"/>
                </a:solidFill>
                <a:latin typeface="Calibr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34639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Product rule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u′v + uv′ — two terms, added.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8620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86200"/>
            <a:ext cx="118872" cy="96012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8620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0A896"/>
                </a:solidFill>
                <a:latin typeface="Calibri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88620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Quotient order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Numerator is u′v − uv′ (mind the order/sign).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3776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937760"/>
            <a:ext cx="118872" cy="96012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3776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4F3DF5"/>
                </a:solidFill>
                <a:latin typeface="Calibri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3776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v² 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The quotient rule divides by v squared.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CONSOLIDATE · MIXED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Mixed practice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9494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94944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94944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5836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y = (x+5)⁴. dy/dx?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y = (3x−2)³. dy/dx?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y = x²(x−1). dy/dx (product)?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4515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4.  Which rule for  (x+1)/(x−1)?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691640"/>
            <a:ext cx="3749039" cy="420624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1819656"/>
            <a:ext cx="341985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4(x+5)³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9(3x−2)²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2x(x−1)+x² = 3x²−2x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4.  quotient rule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PLENARY · WHAT HAVE WE LEARNED?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Plenary &amp; exit ticket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21208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5212080" cy="45720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5212080" cy="2286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KEY FORMULAS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1" y="22402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f>
                    <m:num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d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y</m:t>
                      </m:r>
                    </m:num>
                    <m:den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d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x</m:t>
                      </m:r>
                    </m:den>
                  </m:f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d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y</m:t>
                      </m:r>
                    </m:num>
                    <m:den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d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u</m:t>
                      </m:r>
                    </m:den>
                  </m:f>
                  <m:r>
                    <a:rPr sz="2200">
                      <a:solidFill>
                        <a:srgbClr val="4F3DF5"/>
                      </a:solidFill>
                    </a:rPr>
                    <m:t xml:space="preserve">·</m:t>
                  </m:r>
                  <m:f>
                    <m:num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d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u</m:t>
                      </m:r>
                    </m:num>
                    <m:den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d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x</m:t>
                      </m:r>
                    </m:den>
                  </m:f>
                </m:oMath>
              </m:oMathPara>
            </a14:m>
          </a:p>
        </p:txBody>
      </p:sp>
      <p:sp>
        <p:nvSpPr>
          <p:cNvPr id="13" name="TextBox 12"/>
          <p:cNvSpPr txBox="1"/>
          <p:nvPr/>
        </p:nvSpPr>
        <p:spPr>
          <a:xfrm>
            <a:off x="2039111" y="31546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u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v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'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u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'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v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+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u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v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'</m:t>
                  </m:r>
                </m:oMath>
              </m:oMathPara>
            </a14:m>
          </a:p>
        </p:txBody>
      </p:sp>
      <p:sp>
        <p:nvSpPr>
          <p:cNvPr id="14" name="Rounded Rectangle 13"/>
          <p:cNvSpPr/>
          <p:nvPr/>
        </p:nvSpPr>
        <p:spPr>
          <a:xfrm>
            <a:off x="6035040" y="1554480"/>
            <a:ext cx="5486400" cy="429768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916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705"/>
                </a:solidFill>
                <a:latin typeface="Calibri"/>
              </a:rPr>
              <a:t>EXIT TICKET — before you leave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14884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1.  y = (x+2)³. dy/dx?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2.  Product rule formula?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3.  Rule for (…)⁶?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07492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4288536"/>
            <a:ext cx="4745736" cy="1344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3(x+2)²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u′v + uv′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chain rule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6868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7D3F0"/>
                </a:solidFill>
                <a:latin typeface="Calibri"/>
              </a:rPr>
              <a:t>Self-assess: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6B6B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need more help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2B705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nearly there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0A896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confident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HOMEWORK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Homework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68580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9339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80136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SET ON DR FROST MATHS (auto-marked)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640080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Task: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Chain, product &amp; quotient rules.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Aim for 80%+ before the next lesson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Re-attempt any flagged questions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Bring one tricky question to discuss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783080"/>
            <a:ext cx="38404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80960" y="1783080"/>
            <a:ext cx="384048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993392"/>
            <a:ext cx="384048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801368"/>
            <a:ext cx="347472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NEXT LESSON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3774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Lesson 38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Stationary points &amp; curve sketching.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411480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00A896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00A896"/>
                      </a:solidFill>
                    </a:rPr>
                    <m:t xml:space="preserve">f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'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0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