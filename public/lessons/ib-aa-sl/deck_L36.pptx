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Tangents, Normals &amp; Rates of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Calculus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5.4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y = x². Find dy/dx.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Gradient of y = x² at x = 3?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Equation of a line through (1,2) gradient 4?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2x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y − 2 = 4(x − 1)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36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gradient of a tangent at a point.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equation of a tangent line.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equation of a normal line.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derivatives as rates of change.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f′(a) for the tangent gradient at x = 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write a tangent's equation with y − y₁ = m(x − x₁)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gradient −1/f′(a) for the normal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interpret a derivative as a rate of change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Tangents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GRADIENT = f′(a)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y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m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x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 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m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1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differentiate to get f′(x)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2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find m = f′(a) at the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Step 3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use y − y₁ = m(x − x₁)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NEED A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Find y₁ = f(a) by substituting into the curve.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Then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you have (x₁, y₁) and 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Equation of a tangent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tangent to  y = x²  at the point where x = 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Point: y = 3² = 9, so (3, 9).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7919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Gradient: dy/dx = 2x, so m = 2(3) = 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07238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Use y − y₁ = m(x − x₁):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465576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y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9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6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−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3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22" name="TextBox 21"/>
          <p:cNvSpPr txBox="1"/>
          <p:nvPr/>
        </p:nvSpPr>
        <p:spPr>
          <a:xfrm>
            <a:off x="6857999" y="4389120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6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9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tangents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y = x², gradient at x = 5?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y = x³, gradient at x = 2?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Tangent gradient where dy/dx=2x at x=−1?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1.  10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−2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Normals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PERPENDICULAR TO TANGENT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m</m:t>
                      </m:r>
                    </m:e>
                    <m:sub>
                      <m:r>
                        <a:rPr sz="2400">
                          <a:solidFill>
                            <a:srgbClr val="4F3DF5"/>
                          </a:solidFill>
                        </a:rPr>
                        <m:rPr>
                          <m:sty m:val="p"/>
                        </m:rPr>
                        <m:t xml:space="preserve">normal</m:t>
                      </m:r>
                    </m:sub>
                  </m:sSub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f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'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Normal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at right angles to the tangent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Gradient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negative reciprocal of the tangent's gradient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dy/dx is a rate of change.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Context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e.g. dV/dt = rate volume changes.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Sign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tells increasing/decreasing.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Equation of a normal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normal to  y = x²  at x = 3.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(The tangent gradient there is 6.)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Normal gradient = −1/6. Point (3, 9):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sSub>
                    <m:e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m</m:t>
                      </m:r>
                    </m:e>
                    <m:sub>
                      <m:r>
                        <a:rPr sz="2400">
                          <a:solidFill>
                            <a:srgbClr val="1D1A33"/>
                          </a:solidFill>
                        </a:rPr>
                        <m:rPr>
                          <m:sty m:val="p"/>
                        </m:rPr>
                        <m:t xml:space="preserve">normal</m:t>
                      </m:r>
                    </m:sub>
                  </m:sSub>
                  <m:r>
                    <a:rPr sz="24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−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6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Use y − y₁ = m(x − x₁):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4169663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y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9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6</m:t>
                      </m:r>
                    </m:den>
                  </m:f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−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3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Consider  y = x² − 4x.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dy/dx.   [1]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equation of the tangent at x = 1.   [4]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dy/dx = 2x − 4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m = 2(1)−4 = −2  (M1); y = 1−4 = −3, point (1,−3)  (A1); y+3 = −2(x−1)  (M1) → y = −2x − 1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Need the y-value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Find y₁ = f(a), not just the gradient.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Normal gradient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It is −1/m, the negative reciprocal.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Point–slope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Use y − y₁ = m(x − x₁) carefully with signs.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f′ then substitute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Differentiate first, then put in the x-value.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y = x², tangent gradient at x = 4?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Tangent to y = x² at x = 1 (equation)?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Normal gradient if tangent gradient = 2?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y = x³, gradient at x = 1?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1.  8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m=2,(1,1): y=2x−1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−1/2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m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f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'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sSub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m</m:t>
                      </m:r>
                    </m:e>
                    <m:sub>
                      <m:r>
                        <a:rPr sz="2200">
                          <a:solidFill>
                            <a:srgbClr val="4F3DF5"/>
                          </a:solidFill>
                        </a:rPr>
                        <m:rPr>
                          <m:sty m:val="p"/>
                        </m:rPr>
                        <m:t xml:space="preserve">normal</m:t>
                      </m:r>
                    </m:sub>
                  </m:sSub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−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f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'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(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a</m:t>
                      </m:r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den>
                  </m:f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y = x², gradient at x = 2?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Normal gradient if m = 4?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Line through (0,1) gradient 3?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−1/4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y = 3x + 1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Tangents, normals &amp; rates.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37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Chain, product &amp; quotient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f>
                    <m:num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x</m:t>
                      </m:r>
                    </m:den>
                  </m:f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y</m:t>
                      </m:r>
                    </m:num>
                    <m:den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u</m:t>
                      </m:r>
                    </m:den>
                  </m:f>
                  <m:r>
                    <a:rPr sz="2200">
                      <a:solidFill>
                        <a:srgbClr val="00A896"/>
                      </a:solidFill>
                    </a:rPr>
                    <m:t xml:space="preserve">·</m:t>
                  </m:r>
                  <m:f>
                    <m:num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u</m:t>
                      </m:r>
                    </m:num>
                    <m:den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d</m:t>
                      </m:r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x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